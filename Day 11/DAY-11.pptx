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23"/>
  </p:notesMasterIdLst>
  <p:sldIdLst>
    <p:sldId id="256" r:id="rId5"/>
    <p:sldId id="402" r:id="rId6"/>
    <p:sldId id="276" r:id="rId7"/>
    <p:sldId id="314" r:id="rId8"/>
    <p:sldId id="342" r:id="rId9"/>
    <p:sldId id="344" r:id="rId10"/>
    <p:sldId id="346" r:id="rId11"/>
    <p:sldId id="347" r:id="rId12"/>
    <p:sldId id="345" r:id="rId13"/>
    <p:sldId id="350" r:id="rId14"/>
    <p:sldId id="351" r:id="rId15"/>
    <p:sldId id="352" r:id="rId16"/>
    <p:sldId id="4762" r:id="rId17"/>
    <p:sldId id="353" r:id="rId18"/>
    <p:sldId id="4760" r:id="rId19"/>
    <p:sldId id="4761" r:id="rId20"/>
    <p:sldId id="419" r:id="rId21"/>
    <p:sldId id="409" r:id="rId22"/>
  </p:sldIdLst>
  <p:sldSz cx="12188825" cy="6858000"/>
  <p:notesSz cx="6858000" cy="9144000"/>
  <p:embeddedFontLst>
    <p:embeddedFont>
      <p:font typeface="Arial Black" panose="020B0A04020102020204" pitchFamily="34" charset="0"/>
      <p:regular r:id="rId24"/>
      <p:bold r:id="rId25"/>
    </p:embeddedFont>
    <p:embeddedFont>
      <p:font typeface="Cambria" panose="02040503050406030204" pitchFamily="18" charset="0"/>
      <p:regular r:id="rId26"/>
      <p:bold r:id="rId27"/>
      <p:italic r:id="rId28"/>
      <p:boldItalic r:id="rId29"/>
    </p:embeddedFont>
    <p:embeddedFont>
      <p:font typeface="Cooper Black" panose="0208090404030B020404" pitchFamily="18" charset="0"/>
      <p:regular r:id="rId30"/>
    </p:embeddedFont>
    <p:embeddedFont>
      <p:font typeface="Corben" panose="020B0604020202020204" charset="0"/>
      <p:bold r:id="rId31"/>
    </p:embeddedFont>
    <p:embeddedFont>
      <p:font typeface="Open Sans" panose="020B0606030504020204" pitchFamily="34" charset="0"/>
      <p:regular r:id="rId32"/>
      <p:bold r:id="rId33"/>
      <p:italic r:id="rId34"/>
      <p:boldItalic r:id="rId35"/>
    </p:embeddedFont>
    <p:embeddedFont>
      <p:font typeface="Quattrocento Sans" panose="020B0502050000020003" pitchFamily="34" charset="0"/>
      <p:regular r:id="rId36"/>
      <p:bold r:id="rId37"/>
      <p:italic r:id="rId38"/>
      <p:boldItalic r:id="rId39"/>
    </p:embeddedFont>
    <p:embeddedFont>
      <p:font typeface="Segoe UI" panose="020B0502040204020203" pitchFamily="34" charset="0"/>
      <p:regular r:id="rId40"/>
      <p:bold r:id="rId41"/>
      <p:italic r:id="rId42"/>
      <p:boldItalic r:id="rId43"/>
    </p:embeddedFont>
    <p:embeddedFont>
      <p:font typeface="Segoe UI Light" panose="020B0502040204020203" pitchFamily="34" charset="0"/>
      <p:regular r:id="rId44"/>
      <p: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7.xml"/><Relationship Id="rId34" Type="http://schemas.openxmlformats.org/officeDocument/2006/relationships/font" Target="fonts/font11.fntdata"/><Relationship Id="rId42" Type="http://schemas.openxmlformats.org/officeDocument/2006/relationships/font" Target="fonts/font19.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6.fntdata"/><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6.xml"/><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9:16:29.530"/>
    </inkml:context>
    <inkml:brush xml:id="br0">
      <inkml:brushProperty name="width" value="0.05" units="cm"/>
      <inkml:brushProperty name="height" value="0.05" units="cm"/>
    </inkml:brush>
  </inkml:definitions>
  <inkml:trace contextRef="#ctx0" brushRef="#br0">0 1 24575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4" name="Google Shape;1674;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1" name="Google Shape;1691;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9" name="Google Shape;1709;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8" name="Google Shape;1718;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0" name="Google Shape;1700;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5842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3"/>
        <p:cNvGrpSpPr/>
        <p:nvPr/>
      </p:nvGrpSpPr>
      <p:grpSpPr>
        <a:xfrm>
          <a:off x="0" y="0"/>
          <a:ext cx="0" cy="0"/>
          <a:chOff x="0" y="0"/>
          <a:chExt cx="0" cy="0"/>
        </a:xfrm>
      </p:grpSpPr>
      <p:sp>
        <p:nvSpPr>
          <p:cNvPr id="1744" name="Google Shape;1744;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5" name="Google Shape;1745;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4" name="Google Shape;1754;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p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3" name="Google Shape;1763;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0"/>
        <p:cNvGrpSpPr/>
        <p:nvPr/>
      </p:nvGrpSpPr>
      <p:grpSpPr>
        <a:xfrm>
          <a:off x="0" y="0"/>
          <a:ext cx="0" cy="0"/>
          <a:chOff x="0" y="0"/>
          <a:chExt cx="0" cy="0"/>
        </a:xfrm>
      </p:grpSpPr>
      <p:sp>
        <p:nvSpPr>
          <p:cNvPr id="1771" name="Google Shape;1771;p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2" name="Google Shape;1772;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0"/>
        <p:cNvGrpSpPr/>
        <p:nvPr/>
      </p:nvGrpSpPr>
      <p:grpSpPr>
        <a:xfrm>
          <a:off x="0" y="0"/>
          <a:ext cx="0" cy="0"/>
          <a:chOff x="0" y="0"/>
          <a:chExt cx="0" cy="0"/>
        </a:xfrm>
      </p:grpSpPr>
      <p:sp>
        <p:nvSpPr>
          <p:cNvPr id="1771" name="Google Shape;1771;p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2" name="Google Shape;1772;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456"/>
        <p:cNvGrpSpPr/>
        <p:nvPr/>
      </p:nvGrpSpPr>
      <p:grpSpPr>
        <a:xfrm>
          <a:off x="0" y="0"/>
          <a:ext cx="0" cy="0"/>
          <a:chOff x="0" y="0"/>
          <a:chExt cx="0" cy="0"/>
        </a:xfrm>
      </p:grpSpPr>
      <p:sp>
        <p:nvSpPr>
          <p:cNvPr id="457" name="Google Shape;457;p178"/>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8" name="Google Shape;458;p178"/>
          <p:cNvSpPr txBox="1">
            <a:spLocks noGrp="1"/>
          </p:cNvSpPr>
          <p:nvPr>
            <p:ph type="body" idx="1"/>
          </p:nvPr>
        </p:nvSpPr>
        <p:spPr>
          <a:xfrm>
            <a:off x="5181838" y="987426"/>
            <a:ext cx="6170593" cy="4873625"/>
          </a:xfrm>
          <a:prstGeom prst="rect">
            <a:avLst/>
          </a:prstGeom>
          <a:noFill/>
          <a:ln>
            <a:noFill/>
          </a:ln>
        </p:spPr>
        <p:txBody>
          <a:bodyPr spcFirstLastPara="1" wrap="square" lIns="91425" tIns="45700" rIns="91425" bIns="45700" anchor="t" anchorCtr="0">
            <a:normAutofit/>
          </a:bodyPr>
          <a:lstStyle>
            <a:lvl1pPr marL="457200" lvl="0" indent="-431736" algn="l">
              <a:lnSpc>
                <a:spcPct val="90000"/>
              </a:lnSpc>
              <a:spcBef>
                <a:spcPts val="1000"/>
              </a:spcBef>
              <a:spcAft>
                <a:spcPts val="0"/>
              </a:spcAft>
              <a:buClr>
                <a:schemeClr val="dk1"/>
              </a:buClr>
              <a:buSzPts val="3199"/>
              <a:buChar char="•"/>
              <a:defRPr sz="3199"/>
            </a:lvl1pPr>
            <a:lvl2pPr marL="914400" lvl="1" indent="-406336" algn="l">
              <a:lnSpc>
                <a:spcPct val="90000"/>
              </a:lnSpc>
              <a:spcBef>
                <a:spcPts val="500"/>
              </a:spcBef>
              <a:spcAft>
                <a:spcPts val="0"/>
              </a:spcAft>
              <a:buClr>
                <a:schemeClr val="dk1"/>
              </a:buClr>
              <a:buSzPts val="2799"/>
              <a:buChar char="•"/>
              <a:defRPr sz="2799"/>
            </a:lvl2pPr>
            <a:lvl3pPr marL="1371600" lvl="2" indent="-380936" algn="l">
              <a:lnSpc>
                <a:spcPct val="90000"/>
              </a:lnSpc>
              <a:spcBef>
                <a:spcPts val="500"/>
              </a:spcBef>
              <a:spcAft>
                <a:spcPts val="0"/>
              </a:spcAft>
              <a:buClr>
                <a:schemeClr val="dk1"/>
              </a:buClr>
              <a:buSzPts val="2399"/>
              <a:buChar char="•"/>
              <a:defRPr sz="2399"/>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59" name="Google Shape;459;p178"/>
          <p:cNvSpPr txBox="1">
            <a:spLocks noGrp="1"/>
          </p:cNvSpPr>
          <p:nvPr>
            <p:ph type="body" idx="2"/>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0" name="Google Shape;460;p17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1" name="Google Shape;461;p17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2" name="Google Shape;462;p17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80023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63"/>
        <p:cNvGrpSpPr/>
        <p:nvPr/>
      </p:nvGrpSpPr>
      <p:grpSpPr>
        <a:xfrm>
          <a:off x="0" y="0"/>
          <a:ext cx="0" cy="0"/>
          <a:chOff x="0" y="0"/>
          <a:chExt cx="0" cy="0"/>
        </a:xfrm>
      </p:grpSpPr>
      <p:sp>
        <p:nvSpPr>
          <p:cNvPr id="464" name="Google Shape;464;p179"/>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179"/>
          <p:cNvSpPr>
            <a:spLocks noGrp="1"/>
          </p:cNvSpPr>
          <p:nvPr>
            <p:ph type="pic" idx="2"/>
          </p:nvPr>
        </p:nvSpPr>
        <p:spPr>
          <a:xfrm>
            <a:off x="5181838" y="987426"/>
            <a:ext cx="6170593" cy="4873625"/>
          </a:xfrm>
          <a:prstGeom prst="rect">
            <a:avLst/>
          </a:prstGeom>
          <a:noFill/>
          <a:ln>
            <a:noFill/>
          </a:ln>
        </p:spPr>
      </p:sp>
      <p:sp>
        <p:nvSpPr>
          <p:cNvPr id="466" name="Google Shape;466;p179"/>
          <p:cNvSpPr txBox="1">
            <a:spLocks noGrp="1"/>
          </p:cNvSpPr>
          <p:nvPr>
            <p:ph type="body" idx="1"/>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7" name="Google Shape;467;p179"/>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8" name="Google Shape;468;p179"/>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179"/>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36258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3527891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10" Type="http://schemas.openxmlformats.org/officeDocument/2006/relationships/theme" Target="../theme/theme4.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9/3/2025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4" r:id="rId2"/>
    <p:sldLayoutId id="2147483735" r:id="rId3"/>
    <p:sldLayoutId id="2147483736" r:id="rId4"/>
    <p:sldLayoutId id="2147483737" r:id="rId5"/>
    <p:sldLayoutId id="2147483738" r:id="rId6"/>
    <p:sldLayoutId id="2147483739" r:id="rId7"/>
    <p:sldLayoutId id="2147483740" r:id="rId8"/>
    <p:sldLayoutId id="2147483745"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hyperlink" Target="https://help.sap.com/docs/abap-cloud/abap-rap/creating-active-data" TargetMode="External"/><Relationship Id="rId2" Type="http://schemas.openxmlformats.org/officeDocument/2006/relationships/notesSlide" Target="../notesSlides/notesSlide7.xml"/><Relationship Id="rId1" Type="http://schemas.openxmlformats.org/officeDocument/2006/relationships/slideLayout" Target="../slideLayouts/slideLayout38.xml"/><Relationship Id="rId5"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8.xml"/><Relationship Id="rId5" Type="http://schemas.openxmlformats.org/officeDocument/2006/relationships/image" Target="../media/image1180.png"/><Relationship Id="rId4" Type="http://schemas.openxmlformats.org/officeDocument/2006/relationships/customXml" Target="../ink/ink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6.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hemeOverride" Target="../theme/themeOverride2.xml"/></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tiff"/><Relationship Id="rId2" Type="http://schemas.openxmlformats.org/officeDocument/2006/relationships/notesSlide" Target="../notesSlides/notesSlide14.xml"/><Relationship Id="rId1" Type="http://schemas.openxmlformats.org/officeDocument/2006/relationships/slideLayout" Target="../slideLayouts/slideLayout37.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DAY-11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Side Effects</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Draft</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Authorization</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Pre-checks</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approver Projection</a:t>
            </a:r>
            <a:endParaRPr dirty="0"/>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6" name="Google Shape;1332;p59" descr="A green circle with a white tick in it&#10;&#10;Description automatically generated">
            <a:extLst>
              <a:ext uri="{FF2B5EF4-FFF2-40B4-BE49-F238E27FC236}">
                <a16:creationId xmlns:a16="http://schemas.microsoft.com/office/drawing/2014/main" id="{74FA3B13-9907-233F-652F-0FFD3CFE4D3F}"/>
              </a:ext>
            </a:extLst>
          </p:cNvPr>
          <p:cNvPicPr preferRelativeResize="0"/>
          <p:nvPr/>
        </p:nvPicPr>
        <p:blipFill rotWithShape="1">
          <a:blip r:embed="rId3">
            <a:alphaModFix/>
          </a:blip>
          <a:srcRect/>
          <a:stretch/>
        </p:blipFill>
        <p:spPr>
          <a:xfrm>
            <a:off x="4209625" y="3355639"/>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0B39C809-E3E3-66C0-BF73-D93A753A9933}"/>
              </a:ext>
            </a:extLst>
          </p:cNvPr>
          <p:cNvPicPr preferRelativeResize="0"/>
          <p:nvPr/>
        </p:nvPicPr>
        <p:blipFill rotWithShape="1">
          <a:blip r:embed="rId3">
            <a:alphaModFix/>
          </a:blip>
          <a:srcRect/>
          <a:stretch/>
        </p:blipFill>
        <p:spPr>
          <a:xfrm>
            <a:off x="227548" y="3355639"/>
            <a:ext cx="457206" cy="457206"/>
          </a:xfrm>
          <a:prstGeom prst="rect">
            <a:avLst/>
          </a:prstGeom>
          <a:noFill/>
          <a:ln>
            <a:noFill/>
          </a:ln>
        </p:spPr>
      </p:pic>
      <p:pic>
        <p:nvPicPr>
          <p:cNvPr id="10" name="Google Shape;1332;p59" descr="A green circle with a white tick in it&#10;&#10;Description automatically generated">
            <a:extLst>
              <a:ext uri="{FF2B5EF4-FFF2-40B4-BE49-F238E27FC236}">
                <a16:creationId xmlns:a16="http://schemas.microsoft.com/office/drawing/2014/main" id="{6EBA40E5-437B-6BB1-A519-0A554D505878}"/>
              </a:ext>
            </a:extLst>
          </p:cNvPr>
          <p:cNvPicPr preferRelativeResize="0"/>
          <p:nvPr/>
        </p:nvPicPr>
        <p:blipFill rotWithShape="1">
          <a:blip r:embed="rId3">
            <a:alphaModFix/>
          </a:blip>
          <a:srcRect/>
          <a:stretch/>
        </p:blipFill>
        <p:spPr>
          <a:xfrm>
            <a:off x="8637946" y="4747185"/>
            <a:ext cx="457206" cy="457206"/>
          </a:xfrm>
          <a:prstGeom prst="rect">
            <a:avLst/>
          </a:prstGeom>
          <a:noFill/>
          <a:ln>
            <a:noFill/>
          </a:ln>
        </p:spPr>
      </p:pic>
      <p:pic>
        <p:nvPicPr>
          <p:cNvPr id="11" name="Google Shape;1332;p59" descr="A green circle with a white tick in it&#10;&#10;Description automatically generated">
            <a:extLst>
              <a:ext uri="{FF2B5EF4-FFF2-40B4-BE49-F238E27FC236}">
                <a16:creationId xmlns:a16="http://schemas.microsoft.com/office/drawing/2014/main" id="{BD928971-AAE1-458C-6C3C-7F23F6259251}"/>
              </a:ext>
            </a:extLst>
          </p:cNvPr>
          <p:cNvPicPr preferRelativeResize="0"/>
          <p:nvPr/>
        </p:nvPicPr>
        <p:blipFill rotWithShape="1">
          <a:blip r:embed="rId3">
            <a:alphaModFix/>
          </a:blip>
          <a:srcRect/>
          <a:stretch/>
        </p:blipFill>
        <p:spPr>
          <a:xfrm>
            <a:off x="8725777" y="3368482"/>
            <a:ext cx="457206" cy="457206"/>
          </a:xfrm>
          <a:prstGeom prst="rect">
            <a:avLst/>
          </a:prstGeom>
          <a:noFill/>
          <a:ln>
            <a:noFill/>
          </a:ln>
        </p:spPr>
      </p:pic>
      <p:pic>
        <p:nvPicPr>
          <p:cNvPr id="12" name="Google Shape;1332;p59" descr="A green circle with a white tick in it&#10;&#10;Description automatically generated">
            <a:extLst>
              <a:ext uri="{FF2B5EF4-FFF2-40B4-BE49-F238E27FC236}">
                <a16:creationId xmlns:a16="http://schemas.microsoft.com/office/drawing/2014/main" id="{C5DC4ACA-9638-88E5-5F56-0A2D73397BE9}"/>
              </a:ext>
            </a:extLst>
          </p:cNvPr>
          <p:cNvPicPr preferRelativeResize="0"/>
          <p:nvPr/>
        </p:nvPicPr>
        <p:blipFill rotWithShape="1">
          <a:blip r:embed="rId3">
            <a:alphaModFix/>
          </a:blip>
          <a:srcRect/>
          <a:stretch/>
        </p:blipFill>
        <p:spPr>
          <a:xfrm>
            <a:off x="8590419" y="1372477"/>
            <a:ext cx="457206" cy="457206"/>
          </a:xfrm>
          <a:prstGeom prst="rect">
            <a:avLst/>
          </a:prstGeom>
          <a:noFill/>
          <a:ln>
            <a:noFill/>
          </a:ln>
        </p:spPr>
      </p:pic>
      <p:pic>
        <p:nvPicPr>
          <p:cNvPr id="13" name="Google Shape;1332;p59" descr="A green circle with a white tick in it&#10;&#10;Description automatically generated">
            <a:extLst>
              <a:ext uri="{FF2B5EF4-FFF2-40B4-BE49-F238E27FC236}">
                <a16:creationId xmlns:a16="http://schemas.microsoft.com/office/drawing/2014/main" id="{06C1D666-6DEA-485F-7B18-BC9FEBE1F185}"/>
              </a:ext>
            </a:extLst>
          </p:cNvPr>
          <p:cNvPicPr preferRelativeResize="0"/>
          <p:nvPr/>
        </p:nvPicPr>
        <p:blipFill rotWithShape="1">
          <a:blip r:embed="rId3">
            <a:alphaModFix/>
          </a:blip>
          <a:srcRect/>
          <a:stretch/>
        </p:blipFill>
        <p:spPr>
          <a:xfrm>
            <a:off x="11742990" y="1333311"/>
            <a:ext cx="457206" cy="457206"/>
          </a:xfrm>
          <a:prstGeom prst="rect">
            <a:avLst/>
          </a:prstGeom>
          <a:noFill/>
          <a:ln>
            <a:noFill/>
          </a:ln>
        </p:spPr>
      </p:pic>
      <p:pic>
        <p:nvPicPr>
          <p:cNvPr id="14" name="Google Shape;1332;p59" descr="A green circle with a white tick in it&#10;&#10;Description automatically generated">
            <a:extLst>
              <a:ext uri="{FF2B5EF4-FFF2-40B4-BE49-F238E27FC236}">
                <a16:creationId xmlns:a16="http://schemas.microsoft.com/office/drawing/2014/main" id="{6B50E124-57F5-B434-425A-A487F05DEF51}"/>
              </a:ext>
            </a:extLst>
          </p:cNvPr>
          <p:cNvPicPr preferRelativeResize="0"/>
          <p:nvPr/>
        </p:nvPicPr>
        <p:blipFill rotWithShape="1">
          <a:blip r:embed="rId3">
            <a:alphaModFix/>
          </a:blip>
          <a:srcRect/>
          <a:stretch/>
        </p:blipFill>
        <p:spPr>
          <a:xfrm>
            <a:off x="8606200" y="2054981"/>
            <a:ext cx="457206" cy="4572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5"/>
        <p:cNvGrpSpPr/>
        <p:nvPr/>
      </p:nvGrpSpPr>
      <p:grpSpPr>
        <a:xfrm>
          <a:off x="0" y="0"/>
          <a:ext cx="0" cy="0"/>
          <a:chOff x="0" y="0"/>
          <a:chExt cx="0" cy="0"/>
        </a:xfrm>
      </p:grpSpPr>
      <p:pic>
        <p:nvPicPr>
          <p:cNvPr id="1679" name="Google Shape;1679;p87" descr="Additional Save within the Transactional Processing"/>
          <p:cNvPicPr preferRelativeResize="0"/>
          <p:nvPr/>
        </p:nvPicPr>
        <p:blipFill rotWithShape="1">
          <a:blip r:embed="rId3">
            <a:alphaModFix/>
          </a:blip>
          <a:srcRect/>
          <a:stretch/>
        </p:blipFill>
        <p:spPr>
          <a:xfrm>
            <a:off x="4123544" y="50746"/>
            <a:ext cx="3672408" cy="6717297"/>
          </a:xfrm>
          <a:prstGeom prst="rect">
            <a:avLst/>
          </a:prstGeom>
          <a:noFill/>
          <a:ln>
            <a:noFill/>
          </a:ln>
        </p:spPr>
      </p:pic>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4" name="Google Shape;1694;p89"/>
          <p:cNvSpPr txBox="1"/>
          <p:nvPr/>
        </p:nvSpPr>
        <p:spPr>
          <a:xfrm>
            <a:off x="224979" y="788088"/>
            <a:ext cx="11806237"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Side effects are useful in UI scenarios based on BO which makes the Fiori element UI know/aware about the data changes in backend. Whenever data is reevaluated in backend, the frontend is unaware of that, we need to make sure that the frontend make a forceful call to GET the data back on UI.</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Fiori UI will never make an unnecessary call to perform a round trip. If we know that, a change in a field would certainly change the data in SAP system, we need to inform the same to RAP BO, so that it can make a GET call to reload the particular field value and display the updated data on UI. E.g. when we change the booking fee, or flight price under booking table, we need to reload the total price (which is getting calculated in backend using determination), this is exactly what the side effect can do for us.</a:t>
            </a:r>
            <a:endParaRPr sz="1800" dirty="0">
              <a:solidFill>
                <a:schemeClr val="dk1"/>
              </a:solidFill>
              <a:latin typeface="Calibri"/>
              <a:ea typeface="Calibri"/>
              <a:cs typeface="Calibri"/>
              <a:sym typeface="Calibri"/>
            </a:endParaRPr>
          </a:p>
        </p:txBody>
      </p:sp>
      <p:sp>
        <p:nvSpPr>
          <p:cNvPr id="1695" name="Google Shape;1695;p89"/>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Side Effects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94">
                                            <p:txEl>
                                              <p:pRg st="0" end="0"/>
                                            </p:txEl>
                                          </p:spTgt>
                                        </p:tgtEl>
                                        <p:attrNameLst>
                                          <p:attrName>style.visibility</p:attrName>
                                        </p:attrNameLst>
                                      </p:cBhvr>
                                      <p:to>
                                        <p:strVal val="visible"/>
                                      </p:to>
                                    </p:set>
                                    <p:animEffect transition="in" filter="fade">
                                      <p:cBhvr>
                                        <p:cTn id="7" dur="1000"/>
                                        <p:tgtEl>
                                          <p:spTgt spid="1694">
                                            <p:txEl>
                                              <p:pRg st="0" end="0"/>
                                            </p:txEl>
                                          </p:spTgt>
                                        </p:tgtEl>
                                      </p:cBhvr>
                                    </p:animEffect>
                                    <p:anim calcmode="lin" valueType="num">
                                      <p:cBhvr>
                                        <p:cTn id="8" dur="1000" fill="hold"/>
                                        <p:tgtEl>
                                          <p:spTgt spid="169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94">
                                            <p:txEl>
                                              <p:pRg st="1" end="1"/>
                                            </p:txEl>
                                          </p:spTgt>
                                        </p:tgtEl>
                                        <p:attrNameLst>
                                          <p:attrName>style.visibility</p:attrName>
                                        </p:attrNameLst>
                                      </p:cBhvr>
                                      <p:to>
                                        <p:strVal val="visible"/>
                                      </p:to>
                                    </p:set>
                                    <p:animEffect transition="in" filter="fade">
                                      <p:cBhvr>
                                        <p:cTn id="14" dur="1000"/>
                                        <p:tgtEl>
                                          <p:spTgt spid="1694">
                                            <p:txEl>
                                              <p:pRg st="1" end="1"/>
                                            </p:txEl>
                                          </p:spTgt>
                                        </p:tgtEl>
                                      </p:cBhvr>
                                    </p:animEffect>
                                    <p:anim calcmode="lin" valueType="num">
                                      <p:cBhvr>
                                        <p:cTn id="15" dur="1000" fill="hold"/>
                                        <p:tgtEl>
                                          <p:spTgt spid="169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9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10"/>
        <p:cNvGrpSpPr/>
        <p:nvPr/>
      </p:nvGrpSpPr>
      <p:grpSpPr>
        <a:xfrm>
          <a:off x="0" y="0"/>
          <a:ext cx="0" cy="0"/>
          <a:chOff x="0" y="0"/>
          <a:chExt cx="0" cy="0"/>
        </a:xfrm>
      </p:grpSpPr>
      <p:sp>
        <p:nvSpPr>
          <p:cNvPr id="1712" name="Google Shape;1712;p91"/>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Draft</a:t>
            </a:r>
            <a:endParaRPr sz="3599" dirty="0">
              <a:solidFill>
                <a:srgbClr val="FFC000"/>
              </a:solidFill>
              <a:latin typeface="Cooper Black" panose="0208090404030B020404" pitchFamily="18" charset="0"/>
              <a:ea typeface="Corben"/>
              <a:cs typeface="Corben"/>
              <a:sym typeface="Corben"/>
            </a:endParaRPr>
          </a:p>
        </p:txBody>
      </p:sp>
      <p:sp>
        <p:nvSpPr>
          <p:cNvPr id="1715" name="Google Shape;1715;p91"/>
          <p:cNvSpPr txBox="1"/>
          <p:nvPr/>
        </p:nvSpPr>
        <p:spPr>
          <a:xfrm>
            <a:off x="191294" y="741056"/>
            <a:ext cx="1152128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Calibri"/>
                <a:ea typeface="Calibri"/>
                <a:cs typeface="Calibri"/>
                <a:sym typeface="Calibri"/>
              </a:rPr>
              <a:t>Draft is a very important functionality of an enterprise application, which allows us</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To create a stateful application from stateless</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Store intermediate data in sap system</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Perform validations on-fly, increases the collaboration with our app</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Device switch</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The </a:t>
            </a:r>
            <a:r>
              <a:rPr lang="en-US" sz="2000" dirty="0" err="1">
                <a:solidFill>
                  <a:schemeClr val="dk1"/>
                </a:solidFill>
                <a:latin typeface="Calibri"/>
                <a:ea typeface="Calibri"/>
                <a:cs typeface="Calibri"/>
                <a:sym typeface="Calibri"/>
              </a:rPr>
              <a:t>Odata</a:t>
            </a:r>
            <a:r>
              <a:rPr lang="en-US" sz="2000" dirty="0">
                <a:solidFill>
                  <a:schemeClr val="dk1"/>
                </a:solidFill>
                <a:latin typeface="Calibri"/>
                <a:ea typeface="Calibri"/>
                <a:cs typeface="Calibri"/>
                <a:sym typeface="Calibri"/>
              </a:rPr>
              <a:t> V4 never allow CURD operation without having draft feature to your BO</a:t>
            </a:r>
            <a:endParaRPr dirty="0"/>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15"/>
                                        </p:tgtEl>
                                        <p:attrNameLst>
                                          <p:attrName>style.visibility</p:attrName>
                                        </p:attrNameLst>
                                      </p:cBhvr>
                                      <p:to>
                                        <p:strVal val="visible"/>
                                      </p:to>
                                    </p:set>
                                    <p:animEffect transition="in" filter="fade">
                                      <p:cBhvr>
                                        <p:cTn id="7" dur="1000"/>
                                        <p:tgtEl>
                                          <p:spTgt spid="1715"/>
                                        </p:tgtEl>
                                      </p:cBhvr>
                                    </p:animEffect>
                                    <p:anim calcmode="lin" valueType="num">
                                      <p:cBhvr>
                                        <p:cTn id="8" dur="1000" fill="hold"/>
                                        <p:tgtEl>
                                          <p:spTgt spid="1715"/>
                                        </p:tgtEl>
                                        <p:attrNameLst>
                                          <p:attrName>ppt_x</p:attrName>
                                        </p:attrNameLst>
                                      </p:cBhvr>
                                      <p:tavLst>
                                        <p:tav tm="0">
                                          <p:val>
                                            <p:strVal val="#ppt_x"/>
                                          </p:val>
                                        </p:tav>
                                        <p:tav tm="100000">
                                          <p:val>
                                            <p:strVal val="#ppt_x"/>
                                          </p:val>
                                        </p:tav>
                                      </p:tavLst>
                                    </p:anim>
                                    <p:anim calcmode="lin" valueType="num">
                                      <p:cBhvr>
                                        <p:cTn id="9" dur="1000" fill="hold"/>
                                        <p:tgtEl>
                                          <p:spTgt spid="17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9"/>
        <p:cNvGrpSpPr/>
        <p:nvPr/>
      </p:nvGrpSpPr>
      <p:grpSpPr>
        <a:xfrm>
          <a:off x="0" y="0"/>
          <a:ext cx="0" cy="0"/>
          <a:chOff x="0" y="0"/>
          <a:chExt cx="0" cy="0"/>
        </a:xfrm>
      </p:grpSpPr>
      <p:sp>
        <p:nvSpPr>
          <p:cNvPr id="1721" name="Google Shape;1721;p9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Draft Runtime</a:t>
            </a:r>
            <a:endParaRPr sz="3599" dirty="0">
              <a:solidFill>
                <a:srgbClr val="FFC000"/>
              </a:solidFill>
              <a:latin typeface="Cooper Black" panose="0208090404030B020404" pitchFamily="18" charset="0"/>
              <a:ea typeface="Corben"/>
              <a:cs typeface="Corben"/>
              <a:sym typeface="Corben"/>
            </a:endParaRPr>
          </a:p>
        </p:txBody>
      </p:sp>
      <p:pic>
        <p:nvPicPr>
          <p:cNvPr id="1724" name="Google Shape;1724;p92" descr="Life cycle of Draft and Active Data">
            <a:hlinkClick r:id="rId3"/>
          </p:cNvPr>
          <p:cNvPicPr preferRelativeResize="0"/>
          <p:nvPr/>
        </p:nvPicPr>
        <p:blipFill rotWithShape="1">
          <a:blip r:embed="rId4">
            <a:alphaModFix/>
          </a:blip>
          <a:srcRect/>
          <a:stretch/>
        </p:blipFill>
        <p:spPr>
          <a:xfrm>
            <a:off x="570689" y="1412776"/>
            <a:ext cx="10842488" cy="3888432"/>
          </a:xfrm>
          <a:prstGeom prst="rect">
            <a:avLst/>
          </a:prstGeom>
          <a:noFill/>
          <a:ln>
            <a:noFill/>
          </a:ln>
        </p:spPr>
      </p:pic>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1"/>
        <p:cNvGrpSpPr/>
        <p:nvPr/>
      </p:nvGrpSpPr>
      <p:grpSpPr>
        <a:xfrm>
          <a:off x="0" y="0"/>
          <a:ext cx="0" cy="0"/>
          <a:chOff x="0" y="0"/>
          <a:chExt cx="0" cy="0"/>
        </a:xfrm>
      </p:grpSpPr>
      <p:sp>
        <p:nvSpPr>
          <p:cNvPr id="1703" name="Google Shape;1703;p90"/>
          <p:cNvSpPr txBox="1"/>
          <p:nvPr/>
        </p:nvSpPr>
        <p:spPr>
          <a:xfrm>
            <a:off x="224979" y="788088"/>
            <a:ext cx="11806237"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Authorization control in RAP protects our business object against the unauthorized access of data. Authorization control is always relevant when the permission to execute an operation depends on a role of BO consumer. In the RAP, each read or modify request can be checked via authorization object against the user role before the request is finally executed and reaches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The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 with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object is called from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in case of read request – was covered in Anubhav trainings abap on hana course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And behavior implementation in case of modify request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Global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is used for all authorization checks that only depends on the user.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checks can be implemented both for static and instance bound operations</a:t>
            </a:r>
            <a:endParaRPr dirty="0"/>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Instance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Instance authorization is used for all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checks that, in addition to the user role, depend on the state of the entity instance in question (like exact record level). Its only possible for instance based operation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Operations that are executed from instance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are CREATE and static actions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Use case</a:t>
            </a:r>
            <a:r>
              <a:rPr lang="en-US" sz="1800" dirty="0">
                <a:solidFill>
                  <a:schemeClr val="dk1"/>
                </a:solidFill>
                <a:latin typeface="Calibri"/>
                <a:ea typeface="Calibri"/>
                <a:cs typeface="Calibri"/>
                <a:sym typeface="Calibri"/>
              </a:rPr>
              <a:t>: when a user tries to edit a travel request, if the travel request status is cancelled, then we need to check that if he/she is a manager or not. Only managers can edit a cancelled travel request. Since each travel request is different, we need to go with instance-based authorizations.</a:t>
            </a:r>
            <a:endParaRPr dirty="0"/>
          </a:p>
        </p:txBody>
      </p:sp>
      <p:sp>
        <p:nvSpPr>
          <p:cNvPr id="1704" name="Google Shape;1704;p9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Authorization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420548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03">
                                            <p:txEl>
                                              <p:pRg st="0" end="0"/>
                                            </p:txEl>
                                          </p:spTgt>
                                        </p:tgtEl>
                                        <p:attrNameLst>
                                          <p:attrName>style.visibility</p:attrName>
                                        </p:attrNameLst>
                                      </p:cBhvr>
                                      <p:to>
                                        <p:strVal val="visible"/>
                                      </p:to>
                                    </p:set>
                                    <p:animEffect transition="in" filter="fade">
                                      <p:cBhvr>
                                        <p:cTn id="7" dur="1000"/>
                                        <p:tgtEl>
                                          <p:spTgt spid="1703">
                                            <p:txEl>
                                              <p:pRg st="0" end="0"/>
                                            </p:txEl>
                                          </p:spTgt>
                                        </p:tgtEl>
                                      </p:cBhvr>
                                    </p:animEffect>
                                    <p:anim calcmode="lin" valueType="num">
                                      <p:cBhvr>
                                        <p:cTn id="8" dur="1000" fill="hold"/>
                                        <p:tgtEl>
                                          <p:spTgt spid="17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0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03">
                                            <p:txEl>
                                              <p:pRg st="1" end="1"/>
                                            </p:txEl>
                                          </p:spTgt>
                                        </p:tgtEl>
                                        <p:attrNameLst>
                                          <p:attrName>style.visibility</p:attrName>
                                        </p:attrNameLst>
                                      </p:cBhvr>
                                      <p:to>
                                        <p:strVal val="visible"/>
                                      </p:to>
                                    </p:set>
                                    <p:animEffect transition="in" filter="fade">
                                      <p:cBhvr>
                                        <p:cTn id="12" dur="1000"/>
                                        <p:tgtEl>
                                          <p:spTgt spid="1703">
                                            <p:txEl>
                                              <p:pRg st="1" end="1"/>
                                            </p:txEl>
                                          </p:spTgt>
                                        </p:tgtEl>
                                      </p:cBhvr>
                                    </p:animEffect>
                                    <p:anim calcmode="lin" valueType="num">
                                      <p:cBhvr>
                                        <p:cTn id="13" dur="1000" fill="hold"/>
                                        <p:tgtEl>
                                          <p:spTgt spid="170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70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03">
                                            <p:txEl>
                                              <p:pRg st="2" end="2"/>
                                            </p:txEl>
                                          </p:spTgt>
                                        </p:tgtEl>
                                        <p:attrNameLst>
                                          <p:attrName>style.visibility</p:attrName>
                                        </p:attrNameLst>
                                      </p:cBhvr>
                                      <p:to>
                                        <p:strVal val="visible"/>
                                      </p:to>
                                    </p:set>
                                    <p:animEffect transition="in" filter="fade">
                                      <p:cBhvr>
                                        <p:cTn id="17" dur="1000"/>
                                        <p:tgtEl>
                                          <p:spTgt spid="1703">
                                            <p:txEl>
                                              <p:pRg st="2" end="2"/>
                                            </p:txEl>
                                          </p:spTgt>
                                        </p:tgtEl>
                                      </p:cBhvr>
                                    </p:animEffect>
                                    <p:anim calcmode="lin" valueType="num">
                                      <p:cBhvr>
                                        <p:cTn id="18" dur="1000" fill="hold"/>
                                        <p:tgtEl>
                                          <p:spTgt spid="170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7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703">
                                            <p:txEl>
                                              <p:pRg st="4" end="4"/>
                                            </p:txEl>
                                          </p:spTgt>
                                        </p:tgtEl>
                                        <p:attrNameLst>
                                          <p:attrName>style.visibility</p:attrName>
                                        </p:attrNameLst>
                                      </p:cBhvr>
                                      <p:to>
                                        <p:strVal val="visible"/>
                                      </p:to>
                                    </p:set>
                                    <p:animEffect transition="in" filter="fade">
                                      <p:cBhvr>
                                        <p:cTn id="24" dur="1000"/>
                                        <p:tgtEl>
                                          <p:spTgt spid="1703">
                                            <p:txEl>
                                              <p:pRg st="4" end="4"/>
                                            </p:txEl>
                                          </p:spTgt>
                                        </p:tgtEl>
                                      </p:cBhvr>
                                    </p:animEffect>
                                    <p:anim calcmode="lin" valueType="num">
                                      <p:cBhvr>
                                        <p:cTn id="25" dur="1000" fill="hold"/>
                                        <p:tgtEl>
                                          <p:spTgt spid="170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70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703">
                                            <p:txEl>
                                              <p:pRg st="5" end="5"/>
                                            </p:txEl>
                                          </p:spTgt>
                                        </p:tgtEl>
                                        <p:attrNameLst>
                                          <p:attrName>style.visibility</p:attrName>
                                        </p:attrNameLst>
                                      </p:cBhvr>
                                      <p:to>
                                        <p:strVal val="visible"/>
                                      </p:to>
                                    </p:set>
                                    <p:animEffect transition="in" filter="fade">
                                      <p:cBhvr>
                                        <p:cTn id="29" dur="1000"/>
                                        <p:tgtEl>
                                          <p:spTgt spid="1703">
                                            <p:txEl>
                                              <p:pRg st="5" end="5"/>
                                            </p:txEl>
                                          </p:spTgt>
                                        </p:tgtEl>
                                      </p:cBhvr>
                                    </p:animEffect>
                                    <p:anim calcmode="lin" valueType="num">
                                      <p:cBhvr>
                                        <p:cTn id="30" dur="1000" fill="hold"/>
                                        <p:tgtEl>
                                          <p:spTgt spid="170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70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703">
                                            <p:txEl>
                                              <p:pRg st="6" end="6"/>
                                            </p:txEl>
                                          </p:spTgt>
                                        </p:tgtEl>
                                        <p:attrNameLst>
                                          <p:attrName>style.visibility</p:attrName>
                                        </p:attrNameLst>
                                      </p:cBhvr>
                                      <p:to>
                                        <p:strVal val="visible"/>
                                      </p:to>
                                    </p:set>
                                    <p:animEffect transition="in" filter="fade">
                                      <p:cBhvr>
                                        <p:cTn id="34" dur="1000"/>
                                        <p:tgtEl>
                                          <p:spTgt spid="1703">
                                            <p:txEl>
                                              <p:pRg st="6" end="6"/>
                                            </p:txEl>
                                          </p:spTgt>
                                        </p:tgtEl>
                                      </p:cBhvr>
                                    </p:animEffect>
                                    <p:anim calcmode="lin" valueType="num">
                                      <p:cBhvr>
                                        <p:cTn id="35" dur="1000" fill="hold"/>
                                        <p:tgtEl>
                                          <p:spTgt spid="170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70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703">
                                            <p:txEl>
                                              <p:pRg st="7" end="7"/>
                                            </p:txEl>
                                          </p:spTgt>
                                        </p:tgtEl>
                                        <p:attrNameLst>
                                          <p:attrName>style.visibility</p:attrName>
                                        </p:attrNameLst>
                                      </p:cBhvr>
                                      <p:to>
                                        <p:strVal val="visible"/>
                                      </p:to>
                                    </p:set>
                                    <p:animEffect transition="in" filter="fade">
                                      <p:cBhvr>
                                        <p:cTn id="39" dur="1000"/>
                                        <p:tgtEl>
                                          <p:spTgt spid="1703">
                                            <p:txEl>
                                              <p:pRg st="7" end="7"/>
                                            </p:txEl>
                                          </p:spTgt>
                                        </p:tgtEl>
                                      </p:cBhvr>
                                    </p:animEffect>
                                    <p:anim calcmode="lin" valueType="num">
                                      <p:cBhvr>
                                        <p:cTn id="40" dur="1000" fill="hold"/>
                                        <p:tgtEl>
                                          <p:spTgt spid="170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70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703">
                                            <p:txEl>
                                              <p:pRg st="8" end="8"/>
                                            </p:txEl>
                                          </p:spTgt>
                                        </p:tgtEl>
                                        <p:attrNameLst>
                                          <p:attrName>style.visibility</p:attrName>
                                        </p:attrNameLst>
                                      </p:cBhvr>
                                      <p:to>
                                        <p:strVal val="visible"/>
                                      </p:to>
                                    </p:set>
                                    <p:animEffect transition="in" filter="fade">
                                      <p:cBhvr>
                                        <p:cTn id="44" dur="1000"/>
                                        <p:tgtEl>
                                          <p:spTgt spid="1703">
                                            <p:txEl>
                                              <p:pRg st="8" end="8"/>
                                            </p:txEl>
                                          </p:spTgt>
                                        </p:tgtEl>
                                      </p:cBhvr>
                                    </p:animEffect>
                                    <p:anim calcmode="lin" valueType="num">
                                      <p:cBhvr>
                                        <p:cTn id="45" dur="1000" fill="hold"/>
                                        <p:tgtEl>
                                          <p:spTgt spid="170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70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703">
                                            <p:txEl>
                                              <p:pRg st="9" end="9"/>
                                            </p:txEl>
                                          </p:spTgt>
                                        </p:tgtEl>
                                        <p:attrNameLst>
                                          <p:attrName>style.visibility</p:attrName>
                                        </p:attrNameLst>
                                      </p:cBhvr>
                                      <p:to>
                                        <p:strVal val="visible"/>
                                      </p:to>
                                    </p:set>
                                    <p:animEffect transition="in" filter="fade">
                                      <p:cBhvr>
                                        <p:cTn id="49" dur="1000"/>
                                        <p:tgtEl>
                                          <p:spTgt spid="1703">
                                            <p:txEl>
                                              <p:pRg st="9" end="9"/>
                                            </p:txEl>
                                          </p:spTgt>
                                        </p:tgtEl>
                                      </p:cBhvr>
                                    </p:animEffect>
                                    <p:anim calcmode="lin" valueType="num">
                                      <p:cBhvr>
                                        <p:cTn id="50" dur="1000" fill="hold"/>
                                        <p:tgtEl>
                                          <p:spTgt spid="170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70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703">
                                            <p:txEl>
                                              <p:pRg st="11" end="11"/>
                                            </p:txEl>
                                          </p:spTgt>
                                        </p:tgtEl>
                                        <p:attrNameLst>
                                          <p:attrName>style.visibility</p:attrName>
                                        </p:attrNameLst>
                                      </p:cBhvr>
                                      <p:to>
                                        <p:strVal val="visible"/>
                                      </p:to>
                                    </p:set>
                                    <p:animEffect transition="in" filter="fade">
                                      <p:cBhvr>
                                        <p:cTn id="56" dur="1000"/>
                                        <p:tgtEl>
                                          <p:spTgt spid="1703">
                                            <p:txEl>
                                              <p:pRg st="11" end="11"/>
                                            </p:txEl>
                                          </p:spTgt>
                                        </p:tgtEl>
                                      </p:cBhvr>
                                    </p:animEffect>
                                    <p:anim calcmode="lin" valueType="num">
                                      <p:cBhvr>
                                        <p:cTn id="57" dur="1000" fill="hold"/>
                                        <p:tgtEl>
                                          <p:spTgt spid="170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170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6"/>
        <p:cNvGrpSpPr/>
        <p:nvPr/>
      </p:nvGrpSpPr>
      <p:grpSpPr>
        <a:xfrm>
          <a:off x="0" y="0"/>
          <a:ext cx="0" cy="0"/>
          <a:chOff x="0" y="0"/>
          <a:chExt cx="0" cy="0"/>
        </a:xfrm>
      </p:grpSpPr>
      <p:sp>
        <p:nvSpPr>
          <p:cNvPr id="1748" name="Google Shape;1748;p95"/>
          <p:cNvSpPr txBox="1"/>
          <p:nvPr/>
        </p:nvSpPr>
        <p:spPr>
          <a:xfrm>
            <a:off x="224979" y="788088"/>
            <a:ext cx="11806237"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While the system is saving the draft in the draft table we can use </a:t>
            </a:r>
            <a:r>
              <a:rPr lang="en-US" sz="1800" dirty="0" err="1">
                <a:solidFill>
                  <a:schemeClr val="dk1"/>
                </a:solidFill>
                <a:latin typeface="Calibri"/>
                <a:ea typeface="Calibri"/>
                <a:cs typeface="Calibri"/>
                <a:sym typeface="Calibri"/>
              </a:rPr>
              <a:t>prechecks</a:t>
            </a:r>
            <a:r>
              <a:rPr lang="en-US" sz="1800" dirty="0">
                <a:solidFill>
                  <a:schemeClr val="dk1"/>
                </a:solidFill>
                <a:latin typeface="Calibri"/>
                <a:ea typeface="Calibri"/>
                <a:cs typeface="Calibri"/>
                <a:sym typeface="Calibri"/>
              </a:rPr>
              <a:t> to make sure that checks/authorizations are checked in the system before data reaches to draft table. Unlike validations (while saving/updating data to main table) Prechecks will trigger before data reaches to transaction buffer.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They are very helpful when we even want to validate data of one control based on another control. Currently as a developer you need to take additional pain to clean the data when draft is activated. If you apply </a:t>
            </a:r>
            <a:r>
              <a:rPr lang="en-US" sz="1800" dirty="0" err="1">
                <a:solidFill>
                  <a:schemeClr val="dk1"/>
                </a:solidFill>
                <a:latin typeface="Calibri"/>
                <a:ea typeface="Calibri"/>
                <a:cs typeface="Calibri"/>
                <a:sym typeface="Calibri"/>
              </a:rPr>
              <a:t>precheck</a:t>
            </a:r>
            <a:r>
              <a:rPr lang="en-US" sz="1800" dirty="0">
                <a:solidFill>
                  <a:schemeClr val="dk1"/>
                </a:solidFill>
                <a:latin typeface="Calibri"/>
                <a:ea typeface="Calibri"/>
                <a:cs typeface="Calibri"/>
                <a:sym typeface="Calibri"/>
              </a:rPr>
              <a:t>, system ensures that only the clean data reaches to transaction buffer. </a:t>
            </a:r>
            <a:endParaRPr sz="1800" dirty="0">
              <a:solidFill>
                <a:schemeClr val="dk1"/>
              </a:solidFill>
              <a:latin typeface="Calibri"/>
              <a:ea typeface="Calibri"/>
              <a:cs typeface="Calibri"/>
              <a:sym typeface="Calibri"/>
            </a:endParaRPr>
          </a:p>
        </p:txBody>
      </p:sp>
      <p:sp>
        <p:nvSpPr>
          <p:cNvPr id="1749" name="Google Shape;1749;p9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Prechecks </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7" name="Google Shape;1757;p96"/>
          <p:cNvSpPr txBox="1"/>
          <p:nvPr/>
        </p:nvSpPr>
        <p:spPr>
          <a:xfrm>
            <a:off x="224979" y="788088"/>
            <a:ext cx="118062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Before data reaches to transaction buffer, the augment code will be executed and here we can set some default data to the BO instance.</a:t>
            </a:r>
            <a:endParaRPr sz="1800">
              <a:solidFill>
                <a:schemeClr val="dk1"/>
              </a:solidFill>
              <a:latin typeface="Calibri"/>
              <a:ea typeface="Calibri"/>
              <a:cs typeface="Calibri"/>
              <a:sym typeface="Calibri"/>
            </a:endParaRPr>
          </a:p>
        </p:txBody>
      </p:sp>
      <p:sp>
        <p:nvSpPr>
          <p:cNvPr id="1758" name="Google Shape;1758;p9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Augment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6" name="Google Shape;1766;p97"/>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There is a requirement to expose extra elements out of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for which there is no data inside the database, basically these element values are calculated at runtime (on-fly). If you worked with SAP UI5 development, we have similar concept called formatter. We have a implementing class in which we will add our code for calculating the runtime data of virtual elements.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Rules: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should only add them to projection view. Because if you add in main view, your draft table will disturb and your main table will never have these column.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RAP does not support filtering and sorting of virtual elements, also the aggregation and group is not allowed</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cannot select data from virtual elements using direct SELECT or EML</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have to write implementation in a class for virtual element that class must use the interface </a:t>
            </a:r>
            <a:r>
              <a:rPr lang="en-US" sz="1800" dirty="0">
                <a:solidFill>
                  <a:srgbClr val="333333"/>
                </a:solidFill>
                <a:latin typeface="Arial"/>
                <a:ea typeface="Arial"/>
                <a:cs typeface="Arial"/>
                <a:sym typeface="Arial"/>
              </a:rPr>
              <a:t>IF_SADL_EXIT_CALC_ELEMENT_READ.</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sp>
        <p:nvSpPr>
          <p:cNvPr id="1767" name="Google Shape;1767;p9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Virtual Elements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254B608-1366-EDF5-7611-CF806C718FAE}"/>
                  </a:ext>
                </a:extLst>
              </p14:cNvPr>
              <p14:cNvContentPartPr/>
              <p14:nvPr/>
            </p14:nvContentPartPr>
            <p14:xfrm>
              <a:off x="1128892" y="5240783"/>
              <a:ext cx="360" cy="360"/>
            </p14:xfrm>
          </p:contentPart>
        </mc:Choice>
        <mc:Fallback xmlns="">
          <p:pic>
            <p:nvPicPr>
              <p:cNvPr id="2" name="Ink 1">
                <a:extLst>
                  <a:ext uri="{FF2B5EF4-FFF2-40B4-BE49-F238E27FC236}">
                    <a16:creationId xmlns:a16="http://schemas.microsoft.com/office/drawing/2014/main" id="{1254B608-1366-EDF5-7611-CF806C718FAE}"/>
                  </a:ext>
                </a:extLst>
              </p:cNvPr>
              <p:cNvPicPr/>
              <p:nvPr/>
            </p:nvPicPr>
            <p:blipFill>
              <a:blip r:embed="rId5"/>
              <a:stretch>
                <a:fillRect/>
              </a:stretch>
            </p:blipFill>
            <p:spPr>
              <a:xfrm>
                <a:off x="1119892" y="5232143"/>
                <a:ext cx="18000" cy="1800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3"/>
        <p:cNvGrpSpPr/>
        <p:nvPr/>
      </p:nvGrpSpPr>
      <p:grpSpPr>
        <a:xfrm>
          <a:off x="0" y="0"/>
          <a:ext cx="0" cy="0"/>
          <a:chOff x="0" y="0"/>
          <a:chExt cx="0" cy="0"/>
        </a:xfrm>
      </p:grpSpPr>
      <p:sp>
        <p:nvSpPr>
          <p:cNvPr id="1775" name="Google Shape;1775;p98"/>
          <p:cNvSpPr txBox="1"/>
          <p:nvPr/>
        </p:nvSpPr>
        <p:spPr>
          <a:xfrm>
            <a:off x="191294" y="710469"/>
            <a:ext cx="11806237" cy="286232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Go to base behavior definition and add non factory actions, provide implementation for the same</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copy from processor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entity projections and make new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for projection for approver. Both travel and booking, ignore the booking supplement as a approver will only allowed to view </a:t>
            </a:r>
            <a:r>
              <a:rPr lang="en-US" sz="1800" dirty="0" err="1">
                <a:solidFill>
                  <a:schemeClr val="dk1"/>
                </a:solidFill>
                <a:latin typeface="Calibri"/>
                <a:ea typeface="Calibri"/>
                <a:cs typeface="Calibri"/>
                <a:sym typeface="Calibri"/>
              </a:rPr>
              <a:t>upto</a:t>
            </a:r>
            <a:r>
              <a:rPr lang="en-US" sz="1800" dirty="0">
                <a:solidFill>
                  <a:schemeClr val="dk1"/>
                </a:solidFill>
                <a:latin typeface="Calibri"/>
                <a:ea typeface="Calibri"/>
                <a:cs typeface="Calibri"/>
                <a:sym typeface="Calibri"/>
              </a:rPr>
              <a:t> the booking data.</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metadata extensions for approver. Since approver can only see the data of travel and booking, we only created 2 MDE. Keep all the relevant fields and integrate code to show accept and reject travel buttons.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Now we provide behavior definition projection for approver which controls what an approver can do. As we know an approver can only edit </a:t>
            </a:r>
            <a:r>
              <a:rPr lang="en-US" sz="1800" dirty="0" err="1">
                <a:solidFill>
                  <a:schemeClr val="dk1"/>
                </a:solidFill>
                <a:latin typeface="Calibri"/>
                <a:ea typeface="Calibri"/>
                <a:cs typeface="Calibri"/>
                <a:sym typeface="Calibri"/>
              </a:rPr>
              <a:t>bookingfee</a:t>
            </a:r>
            <a:r>
              <a:rPr lang="en-US" sz="1800" dirty="0">
                <a:solidFill>
                  <a:schemeClr val="dk1"/>
                </a:solidFill>
                <a:latin typeface="Calibri"/>
                <a:ea typeface="Calibri"/>
                <a:cs typeface="Calibri"/>
                <a:sym typeface="Calibri"/>
              </a:rPr>
              <a:t> and travel status, he/she not allowed to create/update/delete any of the entities.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Customize our BDEF according to the needs of our user scenario. </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service definition for approver and service binding for approver.</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Testing ☺</a:t>
            </a:r>
            <a:endParaRPr sz="1800" dirty="0">
              <a:solidFill>
                <a:schemeClr val="dk1"/>
              </a:solidFill>
              <a:latin typeface="Calibri"/>
              <a:ea typeface="Calibri"/>
              <a:cs typeface="Calibri"/>
              <a:sym typeface="Calibri"/>
            </a:endParaRPr>
          </a:p>
        </p:txBody>
      </p:sp>
      <p:sp>
        <p:nvSpPr>
          <p:cNvPr id="1776" name="Google Shape;1776;p9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Steps to implement the approver scenario</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3"/>
        <p:cNvGrpSpPr/>
        <p:nvPr/>
      </p:nvGrpSpPr>
      <p:grpSpPr>
        <a:xfrm>
          <a:off x="0" y="0"/>
          <a:ext cx="0" cy="0"/>
          <a:chOff x="0" y="0"/>
          <a:chExt cx="0" cy="0"/>
        </a:xfrm>
      </p:grpSpPr>
      <p:sp>
        <p:nvSpPr>
          <p:cNvPr id="1775" name="Google Shape;1775;p98"/>
          <p:cNvSpPr txBox="1"/>
          <p:nvPr/>
        </p:nvSpPr>
        <p:spPr>
          <a:xfrm>
            <a:off x="191294" y="710469"/>
            <a:ext cx="11806237" cy="286232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Go to base behavior definition and add non factory actions, provide implementation for the same</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copy from processor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entity projections and make new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for projection for approver. Both travel and booking, ignore the booking supplement as a approver will only allowed to view </a:t>
            </a:r>
            <a:r>
              <a:rPr lang="en-US" sz="1800" dirty="0" err="1">
                <a:solidFill>
                  <a:schemeClr val="dk1"/>
                </a:solidFill>
                <a:latin typeface="Calibri"/>
                <a:ea typeface="Calibri"/>
                <a:cs typeface="Calibri"/>
                <a:sym typeface="Calibri"/>
              </a:rPr>
              <a:t>upto</a:t>
            </a:r>
            <a:r>
              <a:rPr lang="en-US" sz="1800" dirty="0">
                <a:solidFill>
                  <a:schemeClr val="dk1"/>
                </a:solidFill>
                <a:latin typeface="Calibri"/>
                <a:ea typeface="Calibri"/>
                <a:cs typeface="Calibri"/>
                <a:sym typeface="Calibri"/>
              </a:rPr>
              <a:t> the booking data.</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metadata extensions for approver. Since approver can only see the data of travel and booking, we only created 2 MDE. Keep all the relevant fields and integrate code to show accept and reject travel buttons.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Now we provide behavior definition projection for approver which controls what an approver can do. As we know an approver can only edit </a:t>
            </a:r>
            <a:r>
              <a:rPr lang="en-US" sz="1800" dirty="0" err="1">
                <a:solidFill>
                  <a:schemeClr val="dk1"/>
                </a:solidFill>
                <a:latin typeface="Calibri"/>
                <a:ea typeface="Calibri"/>
                <a:cs typeface="Calibri"/>
                <a:sym typeface="Calibri"/>
              </a:rPr>
              <a:t>bookingfee</a:t>
            </a:r>
            <a:r>
              <a:rPr lang="en-US" sz="1800" dirty="0">
                <a:solidFill>
                  <a:schemeClr val="dk1"/>
                </a:solidFill>
                <a:latin typeface="Calibri"/>
                <a:ea typeface="Calibri"/>
                <a:cs typeface="Calibri"/>
                <a:sym typeface="Calibri"/>
              </a:rPr>
              <a:t> and travel status, he/she not allowed to create/update/delete any of the entities.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Customize our BDEF according to the needs of our user scenario. </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service definition for approver and service binding for approver.</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Testing ☺</a:t>
            </a:r>
            <a:endParaRPr sz="1800" dirty="0">
              <a:solidFill>
                <a:schemeClr val="dk1"/>
              </a:solidFill>
              <a:latin typeface="Calibri"/>
              <a:ea typeface="Calibri"/>
              <a:cs typeface="Calibri"/>
              <a:sym typeface="Calibri"/>
            </a:endParaRPr>
          </a:p>
        </p:txBody>
      </p:sp>
      <p:sp>
        <p:nvSpPr>
          <p:cNvPr id="1776" name="Google Shape;1776;p9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Steps to implement the approver scenario</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solidFill>
                  <a:schemeClr val="tx1"/>
                </a:solidFill>
                <a:latin typeface="Cooper Black" panose="0208090404030B020404" pitchFamily="18" charset="0"/>
              </a:rPr>
              <a:t>Business Application Studio</a:t>
            </a:r>
            <a:endParaRPr lang="en-US" dirty="0">
              <a:solidFill>
                <a:schemeClr val="tx1"/>
              </a:solidFill>
            </a:endParaRPr>
          </a:p>
        </p:txBody>
      </p:sp>
      <p:sp>
        <p:nvSpPr>
          <p:cNvPr id="6" name="TextBox 5">
            <a:extLst>
              <a:ext uri="{FF2B5EF4-FFF2-40B4-BE49-F238E27FC236}">
                <a16:creationId xmlns:a16="http://schemas.microsoft.com/office/drawing/2014/main" id="{C594CE1D-B3DA-A62D-88CA-50DE7E765445}"/>
              </a:ext>
            </a:extLst>
          </p:cNvPr>
          <p:cNvSpPr txBox="1"/>
          <p:nvPr/>
        </p:nvSpPr>
        <p:spPr>
          <a:xfrm>
            <a:off x="94877" y="833442"/>
            <a:ext cx="11999069" cy="1938992"/>
          </a:xfrm>
          <a:prstGeom prst="rect">
            <a:avLst/>
          </a:prstGeom>
          <a:noFill/>
        </p:spPr>
        <p:txBody>
          <a:bodyPr wrap="square">
            <a:spAutoFit/>
          </a:bodyPr>
          <a:lstStyle/>
          <a:p>
            <a:pPr algn="l"/>
            <a:r>
              <a:rPr lang="en-US" sz="2000" b="0" i="0" dirty="0">
                <a:solidFill>
                  <a:schemeClr val="tx1"/>
                </a:solidFill>
                <a:effectLst/>
                <a:latin typeface="72-Regular"/>
              </a:rPr>
              <a:t>SAP Business Application Studio is a development environment available on SAP Business Technology Platform. It is a multi cloud development environment to create different kinds of Apps like HANA Native, CAPM, Fiori, MDK etc. A developer must create private dev space in the system in order to build application in BAS tool, All the required tooling is pre-configured in BAS.</a:t>
            </a:r>
          </a:p>
          <a:p>
            <a:pPr algn="l"/>
            <a:r>
              <a:rPr lang="en-US" sz="2000" b="0" i="0" dirty="0">
                <a:solidFill>
                  <a:schemeClr val="tx1"/>
                </a:solidFill>
                <a:effectLst/>
                <a:latin typeface="72-Regular"/>
              </a:rPr>
              <a:t>In an Enterprise Account you can set up SAP Business Application Studio as a Free-Tier service by checking its </a:t>
            </a:r>
            <a:r>
              <a:rPr lang="en-US" sz="2000" b="0" i="0" dirty="0">
                <a:solidFill>
                  <a:schemeClr val="tx1"/>
                </a:solidFill>
                <a:effectLst/>
                <a:latin typeface="72-Bold"/>
              </a:rPr>
              <a:t>free</a:t>
            </a:r>
            <a:r>
              <a:rPr lang="en-US" sz="2000" b="0" i="0" dirty="0">
                <a:solidFill>
                  <a:schemeClr val="tx1"/>
                </a:solidFill>
                <a:effectLst/>
                <a:latin typeface="72-Regular"/>
              </a:rPr>
              <a:t> plan during its entitlement configuration.</a:t>
            </a:r>
            <a:endParaRPr lang="en-US" sz="2000" dirty="0">
              <a:solidFill>
                <a:schemeClr val="tx1"/>
              </a:solidFill>
            </a:endParaRPr>
          </a:p>
        </p:txBody>
      </p:sp>
      <p:pic>
        <p:nvPicPr>
          <p:cNvPr id="1026" name="Picture 2" descr="launch sap business application studio">
            <a:extLst>
              <a:ext uri="{FF2B5EF4-FFF2-40B4-BE49-F238E27FC236}">
                <a16:creationId xmlns:a16="http://schemas.microsoft.com/office/drawing/2014/main" id="{45B63570-F26D-A3DA-B361-D7EDE2AAA5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1784" y="2975675"/>
            <a:ext cx="6696744"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388315"/>
      </p:ext>
    </p:extLst>
  </p:cSld>
  <p:clrMapOvr>
    <a:overrideClrMapping bg1="lt1" tx1="dk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alpha val="21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solidFill>
                  <a:schemeClr val="tx1"/>
                </a:solidFill>
              </a:rPr>
              <a:t>Dev Space in BAS</a:t>
            </a:r>
          </a:p>
        </p:txBody>
      </p:sp>
      <p:sp>
        <p:nvSpPr>
          <p:cNvPr id="17" name="Rectangle 16">
            <a:extLst>
              <a:ext uri="{FF2B5EF4-FFF2-40B4-BE49-F238E27FC236}">
                <a16:creationId xmlns:a16="http://schemas.microsoft.com/office/drawing/2014/main" id="{BDC1B650-F7AB-4DF4-479E-6E9EA76770BC}"/>
              </a:ext>
            </a:extLst>
          </p:cNvPr>
          <p:cNvSpPr/>
          <p:nvPr/>
        </p:nvSpPr>
        <p:spPr>
          <a:xfrm>
            <a:off x="981844" y="5805264"/>
            <a:ext cx="10009112" cy="711081"/>
          </a:xfrm>
          <a:prstGeom prst="rect">
            <a:avLst/>
          </a:prstGeom>
          <a:solidFill>
            <a:schemeClr val="tx2">
              <a:lumMod val="2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dirty="0">
                <a:ln w="22225">
                  <a:solidFill>
                    <a:schemeClr val="accent2"/>
                  </a:solidFill>
                  <a:prstDash val="solid"/>
                </a:ln>
                <a:solidFill>
                  <a:schemeClr val="tx1"/>
                </a:solidFill>
              </a:rPr>
              <a:t>IaaS – Infrastructure as a Service</a:t>
            </a:r>
            <a:endParaRPr lang="en-US" sz="3200" dirty="0">
              <a:solidFill>
                <a:schemeClr val="tx1"/>
              </a:solidFill>
            </a:endParaRPr>
          </a:p>
        </p:txBody>
      </p:sp>
      <p:sp>
        <p:nvSpPr>
          <p:cNvPr id="18" name="Rectangle 17">
            <a:extLst>
              <a:ext uri="{FF2B5EF4-FFF2-40B4-BE49-F238E27FC236}">
                <a16:creationId xmlns:a16="http://schemas.microsoft.com/office/drawing/2014/main" id="{DD1DB476-E02C-82F6-8D1A-6016946C24F4}"/>
              </a:ext>
            </a:extLst>
          </p:cNvPr>
          <p:cNvSpPr/>
          <p:nvPr/>
        </p:nvSpPr>
        <p:spPr>
          <a:xfrm>
            <a:off x="986946" y="4437112"/>
            <a:ext cx="10009112" cy="1115319"/>
          </a:xfrm>
          <a:prstGeom prst="rect">
            <a:avLst/>
          </a:prstGeom>
          <a:solidFill>
            <a:schemeClr val="tx2">
              <a:lumMod val="2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dirty="0">
                <a:ln w="22225">
                  <a:solidFill>
                    <a:schemeClr val="accent2"/>
                  </a:solidFill>
                  <a:prstDash val="solid"/>
                </a:ln>
                <a:solidFill>
                  <a:schemeClr val="tx1"/>
                </a:solidFill>
              </a:rPr>
              <a:t>SAP BTP – Platform as a Service</a:t>
            </a:r>
            <a:endParaRPr lang="en-US" sz="3200" dirty="0">
              <a:solidFill>
                <a:schemeClr val="tx1"/>
              </a:solidFill>
            </a:endParaRPr>
          </a:p>
        </p:txBody>
      </p:sp>
      <p:sp>
        <p:nvSpPr>
          <p:cNvPr id="19" name="Rectangle 18">
            <a:extLst>
              <a:ext uri="{FF2B5EF4-FFF2-40B4-BE49-F238E27FC236}">
                <a16:creationId xmlns:a16="http://schemas.microsoft.com/office/drawing/2014/main" id="{89EEE269-6CAC-FCAE-3101-01FB77B70447}"/>
              </a:ext>
            </a:extLst>
          </p:cNvPr>
          <p:cNvSpPr/>
          <p:nvPr/>
        </p:nvSpPr>
        <p:spPr>
          <a:xfrm>
            <a:off x="981844" y="3473198"/>
            <a:ext cx="10009112" cy="711081"/>
          </a:xfrm>
          <a:prstGeom prst="rect">
            <a:avLst/>
          </a:prstGeom>
          <a:solidFill>
            <a:schemeClr val="tx2">
              <a:lumMod val="2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dirty="0">
                <a:ln w="22225">
                  <a:solidFill>
                    <a:schemeClr val="accent2"/>
                  </a:solidFill>
                  <a:prstDash val="solid"/>
                </a:ln>
                <a:solidFill>
                  <a:schemeClr val="tx1"/>
                </a:solidFill>
              </a:rPr>
              <a:t>SAP BAS – Business App Studio</a:t>
            </a:r>
            <a:endParaRPr lang="en-US" sz="3200" dirty="0">
              <a:solidFill>
                <a:schemeClr val="tx1"/>
              </a:solidFill>
            </a:endParaRPr>
          </a:p>
        </p:txBody>
      </p:sp>
      <p:sp>
        <p:nvSpPr>
          <p:cNvPr id="20" name="Smiley Face 19">
            <a:extLst>
              <a:ext uri="{FF2B5EF4-FFF2-40B4-BE49-F238E27FC236}">
                <a16:creationId xmlns:a16="http://schemas.microsoft.com/office/drawing/2014/main" id="{5939B698-1347-5870-D247-F9E45CA78A21}"/>
              </a:ext>
            </a:extLst>
          </p:cNvPr>
          <p:cNvSpPr/>
          <p:nvPr/>
        </p:nvSpPr>
        <p:spPr>
          <a:xfrm>
            <a:off x="1125860"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miley Face 20">
            <a:extLst>
              <a:ext uri="{FF2B5EF4-FFF2-40B4-BE49-F238E27FC236}">
                <a16:creationId xmlns:a16="http://schemas.microsoft.com/office/drawing/2014/main" id="{C126ABD9-EFE0-A42A-B1F7-43C982841B4F}"/>
              </a:ext>
            </a:extLst>
          </p:cNvPr>
          <p:cNvSpPr/>
          <p:nvPr/>
        </p:nvSpPr>
        <p:spPr>
          <a:xfrm>
            <a:off x="2710036"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miley Face 21">
            <a:extLst>
              <a:ext uri="{FF2B5EF4-FFF2-40B4-BE49-F238E27FC236}">
                <a16:creationId xmlns:a16="http://schemas.microsoft.com/office/drawing/2014/main" id="{38EFB29A-3506-2B63-2C81-189C0D48D09E}"/>
              </a:ext>
            </a:extLst>
          </p:cNvPr>
          <p:cNvSpPr/>
          <p:nvPr/>
        </p:nvSpPr>
        <p:spPr>
          <a:xfrm>
            <a:off x="4438228"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miley Face 22">
            <a:extLst>
              <a:ext uri="{FF2B5EF4-FFF2-40B4-BE49-F238E27FC236}">
                <a16:creationId xmlns:a16="http://schemas.microsoft.com/office/drawing/2014/main" id="{806381B3-A5F3-9EEE-09FA-6C62C392C21A}"/>
              </a:ext>
            </a:extLst>
          </p:cNvPr>
          <p:cNvSpPr/>
          <p:nvPr/>
        </p:nvSpPr>
        <p:spPr>
          <a:xfrm>
            <a:off x="6241331" y="784923"/>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miley Face 23">
            <a:extLst>
              <a:ext uri="{FF2B5EF4-FFF2-40B4-BE49-F238E27FC236}">
                <a16:creationId xmlns:a16="http://schemas.microsoft.com/office/drawing/2014/main" id="{B1A74A0F-0775-3446-1858-4CEFA8F955A0}"/>
              </a:ext>
            </a:extLst>
          </p:cNvPr>
          <p:cNvSpPr/>
          <p:nvPr/>
        </p:nvSpPr>
        <p:spPr>
          <a:xfrm>
            <a:off x="8304471" y="784923"/>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6401AF4-348B-66F7-3106-0A6B01EAFF5E}"/>
              </a:ext>
            </a:extLst>
          </p:cNvPr>
          <p:cNvSpPr txBox="1"/>
          <p:nvPr/>
        </p:nvSpPr>
        <p:spPr>
          <a:xfrm>
            <a:off x="5734372" y="1628800"/>
            <a:ext cx="6264696" cy="1477328"/>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rgbClr val="FF0000"/>
                </a:solidFill>
              </a:rPr>
              <a:t>We don’t want a single developer to consume all the available resources</a:t>
            </a:r>
          </a:p>
          <a:p>
            <a:pPr marL="285750" indent="-285750">
              <a:buFont typeface="Arial" panose="020B0604020202020204" pitchFamily="34" charset="0"/>
              <a:buChar char="•"/>
            </a:pPr>
            <a:r>
              <a:rPr lang="en-US" sz="1800" dirty="0">
                <a:solidFill>
                  <a:srgbClr val="FF0000"/>
                </a:solidFill>
              </a:rPr>
              <a:t>We want a clear isolation of one developer with another</a:t>
            </a:r>
          </a:p>
          <a:p>
            <a:pPr marL="285750" indent="-285750">
              <a:buFont typeface="Arial" panose="020B0604020202020204" pitchFamily="34" charset="0"/>
              <a:buChar char="•"/>
            </a:pPr>
            <a:r>
              <a:rPr lang="en-US" sz="1800" dirty="0">
                <a:solidFill>
                  <a:srgbClr val="FF0000"/>
                </a:solidFill>
              </a:rPr>
              <a:t>Pre-configured by sap for specific development</a:t>
            </a:r>
          </a:p>
          <a:p>
            <a:r>
              <a:rPr lang="en-US" sz="1800" dirty="0">
                <a:solidFill>
                  <a:srgbClr val="FF0000"/>
                </a:solidFill>
              </a:rPr>
              <a:t>Solution - Virtualize</a:t>
            </a:r>
          </a:p>
        </p:txBody>
      </p:sp>
      <p:sp>
        <p:nvSpPr>
          <p:cNvPr id="26" name="Rectangle 25">
            <a:extLst>
              <a:ext uri="{FF2B5EF4-FFF2-40B4-BE49-F238E27FC236}">
                <a16:creationId xmlns:a16="http://schemas.microsoft.com/office/drawing/2014/main" id="{7BA8F4EC-11B3-5EFF-EF93-2BA08C3E35A3}"/>
              </a:ext>
            </a:extLst>
          </p:cNvPr>
          <p:cNvSpPr/>
          <p:nvPr/>
        </p:nvSpPr>
        <p:spPr>
          <a:xfrm>
            <a:off x="981844" y="2060848"/>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7" name="Rectangle 26">
            <a:extLst>
              <a:ext uri="{FF2B5EF4-FFF2-40B4-BE49-F238E27FC236}">
                <a16:creationId xmlns:a16="http://schemas.microsoft.com/office/drawing/2014/main" id="{DBD2BB0E-599E-0962-4C77-91109A4D9C54}"/>
              </a:ext>
            </a:extLst>
          </p:cNvPr>
          <p:cNvSpPr/>
          <p:nvPr/>
        </p:nvSpPr>
        <p:spPr>
          <a:xfrm>
            <a:off x="2458008" y="2058700"/>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8" name="Rectangle 27">
            <a:extLst>
              <a:ext uri="{FF2B5EF4-FFF2-40B4-BE49-F238E27FC236}">
                <a16:creationId xmlns:a16="http://schemas.microsoft.com/office/drawing/2014/main" id="{FA7CD5C9-81B7-2433-A65B-748BA1E9CCAD}"/>
              </a:ext>
            </a:extLst>
          </p:cNvPr>
          <p:cNvSpPr/>
          <p:nvPr/>
        </p:nvSpPr>
        <p:spPr>
          <a:xfrm>
            <a:off x="3946987" y="2037670"/>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9" name="Explosion: 8 Points 28">
            <a:extLst>
              <a:ext uri="{FF2B5EF4-FFF2-40B4-BE49-F238E27FC236}">
                <a16:creationId xmlns:a16="http://schemas.microsoft.com/office/drawing/2014/main" id="{D2C17AAB-8CC5-373A-CEA9-A57771005ED2}"/>
              </a:ext>
            </a:extLst>
          </p:cNvPr>
          <p:cNvSpPr/>
          <p:nvPr/>
        </p:nvSpPr>
        <p:spPr>
          <a:xfrm>
            <a:off x="646896" y="1808015"/>
            <a:ext cx="839004" cy="597895"/>
          </a:xfrm>
          <a:prstGeom prst="irregularSeal1">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4450493"/>
      </p:ext>
    </p:extLst>
  </p:cSld>
  <p:clrMapOvr>
    <a:overrideClrMapping bg1="lt1" tx1="dk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dirty="0">
                <a:solidFill>
                  <a:srgbClr val="75C042"/>
                </a:solidFill>
                <a:latin typeface="Segoe UI" panose="020B0502040204020203" pitchFamily="34" charset="0"/>
                <a:ea typeface="Calibri Light" charset="0"/>
                <a:cs typeface="Segoe UI" panose="020B0502040204020203" pitchFamily="34" charset="0"/>
              </a:rPr>
              <a:t>11</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1537</TotalTime>
  <Words>1615</Words>
  <Application>Microsoft Office PowerPoint</Application>
  <PresentationFormat>Custom</PresentationFormat>
  <Paragraphs>143</Paragraphs>
  <Slides>18</Slides>
  <Notes>14</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18</vt:i4>
      </vt:variant>
    </vt:vector>
  </HeadingPairs>
  <TitlesOfParts>
    <vt:vector size="34" baseType="lpstr">
      <vt:lpstr>Arial</vt:lpstr>
      <vt:lpstr>Cooper Black</vt:lpstr>
      <vt:lpstr>Corben</vt:lpstr>
      <vt:lpstr>72-Bold</vt:lpstr>
      <vt:lpstr>Segoe UI</vt:lpstr>
      <vt:lpstr>72-Regular</vt:lpstr>
      <vt:lpstr>Quattrocento Sans</vt:lpstr>
      <vt:lpstr>Calibri</vt:lpstr>
      <vt:lpstr>Cambria</vt:lpstr>
      <vt:lpstr>Arial Black</vt:lpstr>
      <vt:lpstr>Open Sans</vt:lpstr>
      <vt:lpstr>Segoe UI Light</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Application Studio</vt:lpstr>
      <vt:lpstr>Dev Space in BAS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77</cp:revision>
  <dcterms:created xsi:type="dcterms:W3CDTF">2023-10-03T21:33:12Z</dcterms:created>
  <dcterms:modified xsi:type="dcterms:W3CDTF">2025-09-03T04:02:02Z</dcterms:modified>
</cp:coreProperties>
</file>