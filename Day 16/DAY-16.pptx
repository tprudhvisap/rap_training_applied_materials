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21"/>
  </p:notesMasterIdLst>
  <p:sldIdLst>
    <p:sldId id="256" r:id="rId4"/>
    <p:sldId id="402" r:id="rId5"/>
    <p:sldId id="276" r:id="rId6"/>
    <p:sldId id="420" r:id="rId7"/>
    <p:sldId id="421" r:id="rId8"/>
    <p:sldId id="358" r:id="rId9"/>
    <p:sldId id="359" r:id="rId10"/>
    <p:sldId id="360" r:id="rId11"/>
    <p:sldId id="422" r:id="rId12"/>
    <p:sldId id="4809" r:id="rId13"/>
    <p:sldId id="423" r:id="rId14"/>
    <p:sldId id="375" r:id="rId15"/>
    <p:sldId id="4806" r:id="rId16"/>
    <p:sldId id="4807" r:id="rId17"/>
    <p:sldId id="4808" r:id="rId18"/>
    <p:sldId id="419" r:id="rId19"/>
    <p:sldId id="409" r:id="rId20"/>
  </p:sldIdLst>
  <p:sldSz cx="12188825" cy="6858000"/>
  <p:notesSz cx="6858000" cy="9144000"/>
  <p:embeddedFontLst>
    <p:embeddedFont>
      <p:font typeface="72" panose="020B0503030000000003" pitchFamily="34" charset="0"/>
      <p:regular r:id="rId22"/>
      <p:bold r:id="rId23"/>
      <p:italic r:id="rId24"/>
      <p:boldItalic r:id="rId25"/>
    </p:embeddedFont>
    <p:embeddedFont>
      <p:font typeface="72 Condensed" panose="020B0506030000000003" pitchFamily="34" charset="0"/>
      <p:regular r:id="rId26"/>
      <p:bold r:id="rId27"/>
    </p:embeddedFont>
    <p:embeddedFont>
      <p:font typeface="Arial Black" panose="020B0A04020102020204" pitchFamily="34" charset="0"/>
      <p:regular r:id="rId28"/>
      <p:bold r:id="rId29"/>
    </p:embeddedFont>
    <p:embeddedFont>
      <p:font typeface="Cambria" panose="02040503050406030204" pitchFamily="18" charset="0"/>
      <p:regular r:id="rId30"/>
      <p:bold r:id="rId31"/>
      <p:italic r:id="rId32"/>
      <p:boldItalic r:id="rId33"/>
    </p:embeddedFont>
    <p:embeddedFont>
      <p:font typeface="Cooper Black" panose="0208090404030B020404" pitchFamily="18" charset="0"/>
      <p:regular r:id="rId34"/>
    </p:embeddedFont>
    <p:embeddedFont>
      <p:font typeface="Corben" panose="020B0604020202020204" charset="0"/>
      <p:bold r:id="rId35"/>
    </p:embeddedFont>
    <p:embeddedFont>
      <p:font typeface="Open Sans" panose="020B0606030504020204" pitchFamily="34" charset="0"/>
      <p:regular r:id="rId36"/>
      <p:bold r:id="rId37"/>
      <p:italic r:id="rId38"/>
      <p:boldItalic r:id="rId39"/>
    </p:embeddedFont>
    <p:embeddedFont>
      <p:font typeface="Quattrocento Sans" panose="020B0502050000020003" pitchFamily="34" charset="0"/>
      <p:regular r:id="rId40"/>
      <p:bold r:id="rId41"/>
      <p:italic r:id="rId42"/>
      <p:boldItalic r:id="rId43"/>
    </p:embeddedFont>
    <p:embeddedFont>
      <p:font typeface="Segoe UI" panose="020B0502040204020203" pitchFamily="34" charset="0"/>
      <p:regular r:id="rId44"/>
      <p:bold r:id="rId45"/>
      <p:italic r:id="rId46"/>
      <p:boldItalic r:id="rId47"/>
    </p:embeddedFont>
    <p:embeddedFont>
      <p:font typeface="Segoe UI Light" panose="020B0502040204020203" pitchFamily="34" charset="0"/>
      <p:regular r:id="rId48"/>
      <p: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47" Type="http://schemas.openxmlformats.org/officeDocument/2006/relationships/font" Target="fonts/font26.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8.fntdata"/><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45" Type="http://schemas.openxmlformats.org/officeDocument/2006/relationships/font" Target="fonts/font24.fntdata"/><Relationship Id="rId5" Type="http://schemas.openxmlformats.org/officeDocument/2006/relationships/slide" Target="slides/slide2.xml"/><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0.fntdata"/><Relationship Id="rId44" Type="http://schemas.openxmlformats.org/officeDocument/2006/relationships/font" Target="fonts/font2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48" Type="http://schemas.openxmlformats.org/officeDocument/2006/relationships/font" Target="fonts/font27.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46" Type="http://schemas.openxmlformats.org/officeDocument/2006/relationships/font" Target="fonts/font25.fntdata"/><Relationship Id="rId20" Type="http://schemas.openxmlformats.org/officeDocument/2006/relationships/slide" Target="slides/slide17.xml"/><Relationship Id="rId41"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3.xml"/><Relationship Id="rId204" Type="http://schemas.openxmlformats.org/officeDocument/2006/relationships/presProps" Target="presProps.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49" Type="http://schemas.openxmlformats.org/officeDocument/2006/relationships/font" Target="fonts/font28.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23T08:38:38.542"/>
    </inkml:context>
    <inkml:brush xml:id="br0">
      <inkml:brushProperty name="width" value="0.05" units="cm"/>
      <inkml:brushProperty name="height" value="0.05" units="cm"/>
    </inkml:brush>
  </inkml:definitions>
  <inkml:trace contextRef="#ctx0" brushRef="#br0">4 0 24575,'-3'3'0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2978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8053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2"/>
        <p:cNvGrpSpPr/>
        <p:nvPr/>
      </p:nvGrpSpPr>
      <p:grpSpPr>
        <a:xfrm>
          <a:off x="0" y="0"/>
          <a:ext cx="0" cy="0"/>
          <a:chOff x="0" y="0"/>
          <a:chExt cx="0" cy="0"/>
        </a:xfrm>
      </p:grpSpPr>
      <p:sp>
        <p:nvSpPr>
          <p:cNvPr id="1833" name="Google Shape;1833;p10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4" name="Google Shape;1834;p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2"/>
        <p:cNvGrpSpPr/>
        <p:nvPr/>
      </p:nvGrpSpPr>
      <p:grpSpPr>
        <a:xfrm>
          <a:off x="0" y="0"/>
          <a:ext cx="0" cy="0"/>
          <a:chOff x="0" y="0"/>
          <a:chExt cx="0" cy="0"/>
        </a:xfrm>
      </p:grpSpPr>
      <p:sp>
        <p:nvSpPr>
          <p:cNvPr id="1863" name="Google Shape;1863;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4" name="Google Shape;1864;p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1493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5579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589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2"/>
        <p:cNvGrpSpPr/>
        <p:nvPr/>
      </p:nvGrpSpPr>
      <p:grpSpPr>
        <a:xfrm>
          <a:off x="0" y="0"/>
          <a:ext cx="0" cy="0"/>
          <a:chOff x="0" y="0"/>
          <a:chExt cx="0" cy="0"/>
        </a:xfrm>
      </p:grpSpPr>
      <p:sp>
        <p:nvSpPr>
          <p:cNvPr id="2013" name="Google Shape;2013;p1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4" name="Google Shape;2014;p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55324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574548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9/11/2025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45"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9/11/2025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customXml" Target="../ink/ink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0.jpeg"/><Relationship Id="rId7" Type="http://schemas.openxmlformats.org/officeDocument/2006/relationships/image" Target="../media/image14.tiff"/><Relationship Id="rId2" Type="http://schemas.openxmlformats.org/officeDocument/2006/relationships/notesSlide" Target="../notesSlides/notesSlide14.xml"/><Relationship Id="rId1" Type="http://schemas.openxmlformats.org/officeDocument/2006/relationships/slideLayout" Target="../slideLayouts/slideLayout38.xml"/><Relationship Id="rId6" Type="http://schemas.openxmlformats.org/officeDocument/2006/relationships/image" Target="../media/image13.tiff"/><Relationship Id="rId5" Type="http://schemas.openxmlformats.org/officeDocument/2006/relationships/image" Target="../media/image12.tiff"/><Relationship Id="rId4" Type="http://schemas.openxmlformats.org/officeDocument/2006/relationships/image" Target="../media/image11.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DAY-16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CTMS </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Custom Entities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Unmanaged Scenario</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a:solidFill>
                  <a:schemeClr val="accent4"/>
                </a:solidFill>
                <a:latin typeface="Open Sans" panose="020B0606030504020204" pitchFamily="34" charset="0"/>
                <a:ea typeface="Open Sans" panose="020B0606030504020204" pitchFamily="34" charset="0"/>
                <a:cs typeface="Open Sans" panose="020B0606030504020204" pitchFamily="34" charset="0"/>
              </a:rPr>
              <a:t>Testing</a:t>
            </a:r>
            <a:endPar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24491"/>
            <a:ext cx="11806237" cy="175428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 CDS custom entity allows developers to implement their own data retrieval using ABAP. A CDS custom entity is linked with an ABAP class and the data retrieval is executed on the application server. At the CDS level, only an interface is defined. Custom entities are used when data can't be accessed using SQL and the available CDS feature set.</a:t>
            </a:r>
          </a:p>
          <a:p>
            <a:pPr marL="0" marR="0" lvl="0" indent="0" algn="l" rtl="0">
              <a:spcBef>
                <a:spcPts val="0"/>
              </a:spcBef>
              <a:spcAft>
                <a:spcPts val="0"/>
              </a:spcAft>
              <a:buNone/>
            </a:pPr>
            <a:endParaRPr lang="en-US"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following image exemplifies the runtime of a CDS custom entity. It shows that the data retrieval is implemented by an ABAP class and the data source does not have to be a database table.</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Custom Entities</a:t>
            </a:r>
            <a:endParaRPr sz="3599" dirty="0">
              <a:solidFill>
                <a:srgbClr val="FFC000"/>
              </a:solidFill>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4" name="Picture 3">
            <a:extLst>
              <a:ext uri="{FF2B5EF4-FFF2-40B4-BE49-F238E27FC236}">
                <a16:creationId xmlns:a16="http://schemas.microsoft.com/office/drawing/2014/main" id="{357208DC-5D4F-2555-08F8-5C27A4DFC69F}"/>
              </a:ext>
            </a:extLst>
          </p:cNvPr>
          <p:cNvPicPr>
            <a:picLocks noChangeAspect="1"/>
          </p:cNvPicPr>
          <p:nvPr/>
        </p:nvPicPr>
        <p:blipFill>
          <a:blip r:embed="rId4"/>
          <a:stretch>
            <a:fillRect/>
          </a:stretch>
        </p:blipFill>
        <p:spPr>
          <a:xfrm>
            <a:off x="3576102" y="2697036"/>
            <a:ext cx="4826248" cy="3683189"/>
          </a:xfrm>
          <a:prstGeom prst="rect">
            <a:avLst/>
          </a:prstGeom>
        </p:spPr>
      </p:pic>
    </p:spTree>
    <p:extLst>
      <p:ext uri="{BB962C8B-B14F-4D97-AF65-F5344CB8AC3E}">
        <p14:creationId xmlns:p14="http://schemas.microsoft.com/office/powerpoint/2010/main" val="19118060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88575"/>
            <a:ext cx="11806237" cy="3354724"/>
          </a:xfrm>
          <a:prstGeom prst="rect">
            <a:avLst/>
          </a:prstGeom>
          <a:noFill/>
          <a:ln>
            <a:noFill/>
          </a:ln>
        </p:spPr>
        <p:txBody>
          <a:bodyPr spcFirstLastPara="1" wrap="square" lIns="91425" tIns="45700" rIns="91425" bIns="45700" anchor="t" anchorCtr="0">
            <a:spAutoFit/>
          </a:bodyPr>
          <a:lstStyle/>
          <a:p>
            <a:pPr algn="l"/>
            <a:r>
              <a:rPr lang="en-US" sz="2000" b="0" i="0" dirty="0">
                <a:solidFill>
                  <a:schemeClr val="tx1"/>
                </a:solidFill>
                <a:effectLst/>
                <a:latin typeface="-apple-system"/>
              </a:rPr>
              <a:t>In this exercise, we want to replace the travel agencies data of our managed travel app with the results of the remote OData service that provides different set of travel agencies from other system altogether. For this use case, we shall leverage the concept of a custom entity. In contrast to "normal" CDS views that read data from the database tables or other CDS views, the so-called custom entities act as a wrapper for a code-based implementation that provides the data instead. This use case involves following steps.</a:t>
            </a:r>
          </a:p>
          <a:p>
            <a:pPr algn="l"/>
            <a:endParaRPr lang="en-US" sz="2000" b="0" i="0" dirty="0">
              <a:solidFill>
                <a:schemeClr val="tx1"/>
              </a:solidFill>
              <a:effectLst/>
              <a:latin typeface="-apple-system"/>
            </a:endParaRPr>
          </a:p>
          <a:p>
            <a:pPr marL="342900" indent="-342900">
              <a:buFont typeface="Arial" panose="020B0604020202020204" pitchFamily="34" charset="0"/>
              <a:buChar char="•"/>
            </a:pPr>
            <a:r>
              <a:rPr lang="en-US" sz="2000" dirty="0">
                <a:solidFill>
                  <a:schemeClr val="tx1"/>
                </a:solidFill>
                <a:latin typeface="72 Condensed" panose="020B0506030000000003" pitchFamily="34" charset="0"/>
                <a:cs typeface="72 Condensed" panose="020B0506030000000003" pitchFamily="34" charset="0"/>
              </a:rPr>
              <a:t>Creating the Service Consumption Model</a:t>
            </a:r>
          </a:p>
          <a:p>
            <a:pPr marL="342900" indent="-342900">
              <a:buFont typeface="Arial" panose="020B0604020202020204" pitchFamily="34" charset="0"/>
              <a:buChar char="•"/>
            </a:pPr>
            <a:r>
              <a:rPr lang="en-US" sz="2000" dirty="0">
                <a:solidFill>
                  <a:schemeClr val="tx1"/>
                </a:solidFill>
                <a:latin typeface="72 Condensed" panose="020B0506030000000003" pitchFamily="34" charset="0"/>
                <a:cs typeface="72 Condensed" panose="020B0506030000000003" pitchFamily="34" charset="0"/>
              </a:rPr>
              <a:t>Defining the Custom CDS Entity</a:t>
            </a:r>
          </a:p>
          <a:p>
            <a:pPr marL="342900" indent="-342900">
              <a:buFont typeface="Arial" panose="020B0604020202020204" pitchFamily="34" charset="0"/>
              <a:buChar char="•"/>
            </a:pPr>
            <a:r>
              <a:rPr lang="en-US" sz="2000" dirty="0">
                <a:solidFill>
                  <a:schemeClr val="tx1"/>
                </a:solidFill>
                <a:latin typeface="72 Condensed" panose="020B0506030000000003" pitchFamily="34" charset="0"/>
                <a:cs typeface="72 Condensed" panose="020B0506030000000003" pitchFamily="34" charset="0"/>
              </a:rPr>
              <a:t>Create a class that implements the query for the custom entity</a:t>
            </a:r>
          </a:p>
          <a:p>
            <a:pPr marL="342900" indent="-342900">
              <a:buFont typeface="Arial" panose="020B0604020202020204" pitchFamily="34" charset="0"/>
              <a:buChar char="•"/>
            </a:pPr>
            <a:r>
              <a:rPr lang="en-US" sz="2000" b="0" i="0" dirty="0">
                <a:solidFill>
                  <a:schemeClr val="tx1"/>
                </a:solidFill>
                <a:effectLst/>
                <a:latin typeface="72 Condensed" panose="020B0506030000000003" pitchFamily="34" charset="0"/>
                <a:cs typeface="72 Condensed" panose="020B0506030000000003" pitchFamily="34" charset="0"/>
              </a:rPr>
              <a:t>Integrate the custom entity in MDE</a:t>
            </a:r>
            <a:br>
              <a:rPr lang="en-US" sz="2000" b="0" i="0" dirty="0">
                <a:solidFill>
                  <a:schemeClr val="tx1"/>
                </a:solidFill>
                <a:effectLst/>
                <a:latin typeface="-apple-system"/>
              </a:rPr>
            </a:br>
            <a:endParaRPr sz="1200" dirty="0">
              <a:solidFill>
                <a:schemeClr val="tx1"/>
              </a:solidFil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Custom Entity</a:t>
            </a:r>
            <a:endParaRPr sz="3599" dirty="0">
              <a:solidFill>
                <a:srgbClr val="FFC000"/>
              </a:solidFill>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041010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33115" y="867968"/>
            <a:ext cx="11806237"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Imagine in our company we had written all the business logic in the past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SAP is providing a demo class for learning purpose viz. </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dmo</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cl_flight_legacy</a:t>
            </a:r>
            <a:endParaRPr sz="1800" dirty="0">
              <a:solidFill>
                <a:srgbClr val="000000"/>
              </a:solidFill>
              <a:highlight>
                <a:srgbClr val="F0D8A8"/>
              </a:highlight>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 this class we have our own old logic which contains the transaction buffer and business logic to maintain all the source code to interact with database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allows us to implement the entire runtime of the BO</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Interaction Phase (code to interact and keep data inside </a:t>
            </a:r>
            <a:r>
              <a:rPr lang="en-US" sz="1800" dirty="0" err="1">
                <a:solidFill>
                  <a:schemeClr val="dk1"/>
                </a:solidFill>
                <a:latin typeface="Calibri"/>
                <a:ea typeface="Calibri"/>
                <a:cs typeface="Calibri"/>
                <a:sym typeface="Calibri"/>
              </a:rPr>
              <a:t>itab</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Transaction Buffer (like a internal table where we keep temporary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Save Sequence (Commit work and Rollback)</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Unmanaged </a:t>
            </a:r>
            <a:r>
              <a:rPr lang="en-US" sz="3599" dirty="0" err="1">
                <a:solidFill>
                  <a:srgbClr val="FFC000"/>
                </a:solidFill>
                <a:latin typeface="Cooper Black" panose="0208090404030B020404" pitchFamily="18" charset="0"/>
                <a:ea typeface="Corben"/>
                <a:cs typeface="Corben"/>
                <a:sym typeface="Corben"/>
              </a:rPr>
              <a:t>Impl</a:t>
            </a:r>
            <a:r>
              <a:rPr lang="en-US" sz="3599" dirty="0">
                <a:solidFill>
                  <a:srgbClr val="FFC000"/>
                </a:solidFill>
                <a:latin typeface="Cooper Black" panose="0208090404030B020404" pitchFamily="18" charset="0"/>
                <a:ea typeface="Corben"/>
                <a:cs typeface="Corben"/>
                <a:sym typeface="Corben"/>
              </a:rPr>
              <a:t>.</a:t>
            </a:r>
            <a:endParaRPr sz="3599" dirty="0">
              <a:solidFill>
                <a:srgbClr val="FFC000"/>
              </a:solidFill>
              <a:latin typeface="Cooper Black" panose="0208090404030B020404" pitchFamily="18" charset="0"/>
              <a:ea typeface="Corben"/>
              <a:cs typeface="Corben"/>
              <a:sym typeface="Corben"/>
            </a:endParaRPr>
          </a:p>
        </p:txBody>
      </p:sp>
      <p:sp>
        <p:nvSpPr>
          <p:cNvPr id="1824" name="Google Shape;1824;p103"/>
          <p:cNvSpPr/>
          <p:nvPr/>
        </p:nvSpPr>
        <p:spPr>
          <a:xfrm>
            <a:off x="3674740" y="4228143"/>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UPDATE_BAPI</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a:t>
            </a:r>
            <a:endParaRPr/>
          </a:p>
        </p:txBody>
      </p:sp>
      <p:sp>
        <p:nvSpPr>
          <p:cNvPr id="1825" name="Google Shape;1825;p103"/>
          <p:cNvSpPr/>
          <p:nvPr/>
        </p:nvSpPr>
        <p:spPr>
          <a:xfrm>
            <a:off x="2954660" y="4380832"/>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26" name="Google Shape;1826;p103"/>
          <p:cNvSpPr/>
          <p:nvPr/>
        </p:nvSpPr>
        <p:spPr>
          <a:xfrm>
            <a:off x="7851204" y="4668864"/>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1827" name="Google Shape;1827;p103"/>
          <p:cNvCxnSpPr>
            <a:endCxn id="1826" idx="2"/>
          </p:cNvCxnSpPr>
          <p:nvPr/>
        </p:nvCxnSpPr>
        <p:spPr>
          <a:xfrm>
            <a:off x="6555204" y="4524896"/>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2229408" y="5432568"/>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BAPI_TR_COMMIT</a:t>
            </a:r>
            <a:endParaRPr/>
          </a:p>
        </p:txBody>
      </p:sp>
      <p:sp>
        <p:nvSpPr>
          <p:cNvPr id="1829" name="Google Shape;1829;p103"/>
          <p:cNvSpPr/>
          <p:nvPr/>
        </p:nvSpPr>
        <p:spPr>
          <a:xfrm>
            <a:off x="5450360" y="543806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BAPI_TR_ROLLBACK</a:t>
            </a:r>
            <a:endParaRPr/>
          </a:p>
        </p:txBody>
      </p:sp>
      <p:cxnSp>
        <p:nvCxnSpPr>
          <p:cNvPr id="1830" name="Google Shape;1830;p103"/>
          <p:cNvCxnSpPr>
            <a:stCxn id="1828" idx="2"/>
            <a:endCxn id="1826" idx="4"/>
          </p:cNvCxnSpPr>
          <p:nvPr/>
        </p:nvCxnSpPr>
        <p:spPr>
          <a:xfrm rot="-5400000">
            <a:off x="5720522" y="2941906"/>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7328374" y="4555105"/>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5D2EC49A-4812-8B02-5684-5CD94DB4A79B}"/>
                  </a:ext>
                </a:extLst>
              </p14:cNvPr>
              <p14:cNvContentPartPr/>
              <p14:nvPr/>
            </p14:nvContentPartPr>
            <p14:xfrm>
              <a:off x="5761372" y="1920639"/>
              <a:ext cx="1440" cy="1440"/>
            </p14:xfrm>
          </p:contentPart>
        </mc:Choice>
        <mc:Fallback xmlns="">
          <p:pic>
            <p:nvPicPr>
              <p:cNvPr id="2" name="Ink 1">
                <a:extLst>
                  <a:ext uri="{FF2B5EF4-FFF2-40B4-BE49-F238E27FC236}">
                    <a16:creationId xmlns:a16="http://schemas.microsoft.com/office/drawing/2014/main" id="{5D2EC49A-4812-8B02-5684-5CD94DB4A79B}"/>
                  </a:ext>
                </a:extLst>
              </p:cNvPr>
              <p:cNvPicPr/>
              <p:nvPr/>
            </p:nvPicPr>
            <p:blipFill>
              <a:blip r:embed="rId5"/>
              <a:stretch>
                <a:fillRect/>
              </a:stretch>
            </p:blipFill>
            <p:spPr>
              <a:xfrm>
                <a:off x="5752732" y="1911639"/>
                <a:ext cx="19080" cy="1908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35"/>
        <p:cNvGrpSpPr/>
        <p:nvPr/>
      </p:nvGrpSpPr>
      <p:grpSpPr>
        <a:xfrm>
          <a:off x="0" y="0"/>
          <a:ext cx="0" cy="0"/>
          <a:chOff x="0" y="0"/>
          <a:chExt cx="0" cy="0"/>
        </a:xfrm>
      </p:grpSpPr>
      <p:sp>
        <p:nvSpPr>
          <p:cNvPr id="1836" name="Google Shape;1836;p104"/>
          <p:cNvSpPr/>
          <p:nvPr/>
        </p:nvSpPr>
        <p:spPr>
          <a:xfrm>
            <a:off x="2069310" y="2052271"/>
            <a:ext cx="3060338" cy="1944216"/>
          </a:xfrm>
          <a:prstGeom prst="rect">
            <a:avLst/>
          </a:prstGeom>
          <a:solidFill>
            <a:schemeClr val="accent4"/>
          </a:solidFill>
          <a:ln w="12700" cap="flat" cmpd="sng">
            <a:solidFill>
              <a:srgbClr val="6B51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38" name="Google Shape;1838;p10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a:t>
            </a:r>
            <a:endParaRPr sz="3599" dirty="0">
              <a:solidFill>
                <a:srgbClr val="FFC000"/>
              </a:solidFill>
              <a:latin typeface="Cooper Black" panose="0208090404030B020404" pitchFamily="18" charset="0"/>
              <a:ea typeface="Corben"/>
              <a:cs typeface="Corben"/>
              <a:sym typeface="Corben"/>
            </a:endParaRPr>
          </a:p>
        </p:txBody>
      </p:sp>
      <p:sp>
        <p:nvSpPr>
          <p:cNvPr id="1841" name="Google Shape;1841;p104"/>
          <p:cNvSpPr/>
          <p:nvPr/>
        </p:nvSpPr>
        <p:spPr>
          <a:xfrm>
            <a:off x="1511247"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Agency</a:t>
            </a:r>
            <a:endParaRPr/>
          </a:p>
        </p:txBody>
      </p:sp>
      <p:sp>
        <p:nvSpPr>
          <p:cNvPr id="1842" name="Google Shape;1842;p104"/>
          <p:cNvSpPr/>
          <p:nvPr/>
        </p:nvSpPr>
        <p:spPr>
          <a:xfrm>
            <a:off x="4373566" y="4517438"/>
            <a:ext cx="2088232"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Customer</a:t>
            </a:r>
            <a:endParaRPr dirty="0"/>
          </a:p>
        </p:txBody>
      </p:sp>
      <p:sp>
        <p:nvSpPr>
          <p:cNvPr id="1843" name="Google Shape;1843;p104"/>
          <p:cNvSpPr/>
          <p:nvPr/>
        </p:nvSpPr>
        <p:spPr>
          <a:xfrm>
            <a:off x="178127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agency</a:t>
            </a:r>
            <a:endParaRPr dirty="0"/>
          </a:p>
        </p:txBody>
      </p:sp>
      <p:sp>
        <p:nvSpPr>
          <p:cNvPr id="1844" name="Google Shape;1844;p104"/>
          <p:cNvSpPr/>
          <p:nvPr/>
        </p:nvSpPr>
        <p:spPr>
          <a:xfrm>
            <a:off x="4661598" y="5626982"/>
            <a:ext cx="1512168"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customer</a:t>
            </a:r>
            <a:endParaRPr dirty="0"/>
          </a:p>
        </p:txBody>
      </p:sp>
      <p:sp>
        <p:nvSpPr>
          <p:cNvPr id="1845" name="Google Shape;1845;p104"/>
          <p:cNvSpPr/>
          <p:nvPr/>
        </p:nvSpPr>
        <p:spPr>
          <a:xfrm>
            <a:off x="7541918" y="5607147"/>
            <a:ext cx="2150306" cy="325740"/>
          </a:xfrm>
          <a:prstGeom prst="ellipse">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a:t>
            </a:r>
            <a:r>
              <a:rPr lang="en-US" sz="1600" dirty="0" err="1">
                <a:solidFill>
                  <a:schemeClr val="lt1"/>
                </a:solidFill>
                <a:latin typeface="Calibri"/>
                <a:ea typeface="Calibri"/>
                <a:cs typeface="Calibri"/>
                <a:sym typeface="Calibri"/>
              </a:rPr>
              <a:t>dmo</a:t>
            </a:r>
            <a:r>
              <a:rPr lang="en-US" sz="1600" dirty="0">
                <a:solidFill>
                  <a:schemeClr val="lt1"/>
                </a:solidFill>
                <a:latin typeface="Calibri"/>
                <a:ea typeface="Calibri"/>
                <a:cs typeface="Calibri"/>
                <a:sym typeface="Calibri"/>
              </a:rPr>
              <a:t>/travel</a:t>
            </a:r>
            <a:endParaRPr dirty="0"/>
          </a:p>
        </p:txBody>
      </p:sp>
      <p:sp>
        <p:nvSpPr>
          <p:cNvPr id="1846" name="Google Shape;1846;p104"/>
          <p:cNvSpPr/>
          <p:nvPr/>
        </p:nvSpPr>
        <p:spPr>
          <a:xfrm>
            <a:off x="5616946" y="3348233"/>
            <a:ext cx="2088232" cy="52047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err="1">
                <a:solidFill>
                  <a:schemeClr val="lt1"/>
                </a:solidFill>
                <a:latin typeface="Calibri"/>
                <a:ea typeface="Calibri"/>
                <a:cs typeface="Calibri"/>
                <a:sym typeface="Calibri"/>
              </a:rPr>
              <a:t>Travel_U</a:t>
            </a:r>
            <a:endParaRPr sz="2400" dirty="0">
              <a:solidFill>
                <a:schemeClr val="lt1"/>
              </a:solidFill>
              <a:latin typeface="Calibri"/>
              <a:ea typeface="Calibri"/>
              <a:cs typeface="Calibri"/>
              <a:sym typeface="Calibri"/>
            </a:endParaRPr>
          </a:p>
        </p:txBody>
      </p:sp>
      <p:cxnSp>
        <p:nvCxnSpPr>
          <p:cNvPr id="1847" name="Google Shape;1847;p104"/>
          <p:cNvCxnSpPr>
            <a:stCxn id="1844" idx="0"/>
            <a:endCxn id="1842" idx="2"/>
          </p:cNvCxnSpPr>
          <p:nvPr/>
        </p:nvCxnSpPr>
        <p:spPr>
          <a:xfrm rot="10800000">
            <a:off x="5417682" y="5309582"/>
            <a:ext cx="0" cy="317400"/>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8" name="Google Shape;1848;p104"/>
          <p:cNvCxnSpPr>
            <a:stCxn id="1843" idx="0"/>
            <a:endCxn id="1841" idx="2"/>
          </p:cNvCxnSpPr>
          <p:nvPr/>
        </p:nvCxnSpPr>
        <p:spPr>
          <a:xfrm flipV="1">
            <a:off x="2537362" y="5309526"/>
            <a:ext cx="18001" cy="317456"/>
          </a:xfrm>
          <a:prstGeom prst="straightConnector1">
            <a:avLst/>
          </a:prstGeom>
          <a:noFill/>
          <a:ln w="9525" cap="flat" cmpd="sng">
            <a:solidFill>
              <a:schemeClr val="accent1"/>
            </a:solidFill>
            <a:prstDash val="solid"/>
            <a:miter lim="800000"/>
            <a:headEnd type="none" w="sm" len="sm"/>
            <a:tailEnd type="triangle" w="med" len="med"/>
          </a:ln>
        </p:spPr>
      </p:cxnSp>
      <p:cxnSp>
        <p:nvCxnSpPr>
          <p:cNvPr id="1849" name="Google Shape;1849;p104"/>
          <p:cNvCxnSpPr>
            <a:stCxn id="1842" idx="0"/>
            <a:endCxn id="1846" idx="2"/>
          </p:cNvCxnSpPr>
          <p:nvPr/>
        </p:nvCxnSpPr>
        <p:spPr>
          <a:xfrm rot="-5400000">
            <a:off x="5715132" y="3571388"/>
            <a:ext cx="648600" cy="1243500"/>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0" name="Google Shape;1850;p104"/>
          <p:cNvCxnSpPr>
            <a:stCxn id="1841" idx="0"/>
            <a:endCxn id="1846" idx="2"/>
          </p:cNvCxnSpPr>
          <p:nvPr/>
        </p:nvCxnSpPr>
        <p:spPr>
          <a:xfrm rot="5400000" flipH="1" flipV="1">
            <a:off x="4283845" y="2140222"/>
            <a:ext cx="648734" cy="4105699"/>
          </a:xfrm>
          <a:prstGeom prst="bentConnector3">
            <a:avLst>
              <a:gd name="adj1" fmla="val 50000"/>
            </a:avLst>
          </a:prstGeom>
          <a:noFill/>
          <a:ln w="9525" cap="flat" cmpd="sng">
            <a:solidFill>
              <a:schemeClr val="accent1"/>
            </a:solidFill>
            <a:prstDash val="solid"/>
            <a:miter lim="800000"/>
            <a:headEnd type="none" w="sm" len="sm"/>
            <a:tailEnd type="triangle" w="med" len="med"/>
          </a:ln>
        </p:spPr>
      </p:cxnSp>
      <p:cxnSp>
        <p:nvCxnSpPr>
          <p:cNvPr id="1851" name="Google Shape;1851;p104"/>
          <p:cNvCxnSpPr>
            <a:stCxn id="1845" idx="0"/>
          </p:cNvCxnSpPr>
          <p:nvPr/>
        </p:nvCxnSpPr>
        <p:spPr>
          <a:xfrm rot="10800000">
            <a:off x="7076271" y="3852447"/>
            <a:ext cx="1540800" cy="1754700"/>
          </a:xfrm>
          <a:prstGeom prst="straightConnector1">
            <a:avLst/>
          </a:prstGeom>
          <a:noFill/>
          <a:ln w="9525" cap="flat" cmpd="sng">
            <a:solidFill>
              <a:schemeClr val="accent1"/>
            </a:solidFill>
            <a:prstDash val="solid"/>
            <a:miter lim="800000"/>
            <a:headEnd type="none" w="sm" len="sm"/>
            <a:tailEnd type="triangle" w="med" len="med"/>
          </a:ln>
        </p:spPr>
      </p:cxnSp>
      <p:sp>
        <p:nvSpPr>
          <p:cNvPr id="1852" name="Google Shape;1852;p104"/>
          <p:cNvSpPr/>
          <p:nvPr/>
        </p:nvSpPr>
        <p:spPr>
          <a:xfrm>
            <a:off x="8334007" y="3368094"/>
            <a:ext cx="2376264" cy="500791"/>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Travel_U_MDE</a:t>
            </a:r>
            <a:endParaRPr sz="2400">
              <a:solidFill>
                <a:schemeClr val="lt1"/>
              </a:solidFill>
              <a:latin typeface="Calibri"/>
              <a:ea typeface="Calibri"/>
              <a:cs typeface="Calibri"/>
              <a:sym typeface="Calibri"/>
            </a:endParaRPr>
          </a:p>
        </p:txBody>
      </p:sp>
      <p:cxnSp>
        <p:nvCxnSpPr>
          <p:cNvPr id="1853" name="Google Shape;1853;p104"/>
          <p:cNvCxnSpPr>
            <a:stCxn id="1846" idx="3"/>
            <a:endCxn id="1852" idx="1"/>
          </p:cNvCxnSpPr>
          <p:nvPr/>
        </p:nvCxnSpPr>
        <p:spPr>
          <a:xfrm>
            <a:off x="7705178" y="3608469"/>
            <a:ext cx="628800" cy="9900"/>
          </a:xfrm>
          <a:prstGeom prst="straightConnector1">
            <a:avLst/>
          </a:prstGeom>
          <a:noFill/>
          <a:ln w="9525" cap="flat" cmpd="sng">
            <a:solidFill>
              <a:schemeClr val="accent1"/>
            </a:solidFill>
            <a:prstDash val="solid"/>
            <a:miter lim="800000"/>
            <a:headEnd type="none" w="sm" len="sm"/>
            <a:tailEnd type="none" w="sm" len="sm"/>
          </a:ln>
        </p:spPr>
      </p:cxnSp>
      <p:sp>
        <p:nvSpPr>
          <p:cNvPr id="1854" name="Google Shape;1854;p104"/>
          <p:cNvSpPr/>
          <p:nvPr/>
        </p:nvSpPr>
        <p:spPr>
          <a:xfrm>
            <a:off x="5544938" y="2154123"/>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definition</a:t>
            </a:r>
            <a:endParaRPr/>
          </a:p>
        </p:txBody>
      </p:sp>
      <p:cxnSp>
        <p:nvCxnSpPr>
          <p:cNvPr id="1855" name="Google Shape;1855;p104"/>
          <p:cNvCxnSpPr>
            <a:stCxn id="1846" idx="0"/>
            <a:endCxn id="1854" idx="2"/>
          </p:cNvCxnSpPr>
          <p:nvPr/>
        </p:nvCxnSpPr>
        <p:spPr>
          <a:xfrm rot="10800000">
            <a:off x="6661062" y="2874233"/>
            <a:ext cx="0" cy="474000"/>
          </a:xfrm>
          <a:prstGeom prst="straightConnector1">
            <a:avLst/>
          </a:prstGeom>
          <a:noFill/>
          <a:ln w="9525" cap="flat" cmpd="sng">
            <a:solidFill>
              <a:schemeClr val="accent1"/>
            </a:solidFill>
            <a:prstDash val="solid"/>
            <a:miter lim="800000"/>
            <a:headEnd type="none" w="sm" len="sm"/>
            <a:tailEnd type="triangle" w="med" len="med"/>
          </a:ln>
        </p:spPr>
      </p:cxnSp>
      <p:sp>
        <p:nvSpPr>
          <p:cNvPr id="1856" name="Google Shape;1856;p104"/>
          <p:cNvSpPr/>
          <p:nvPr/>
        </p:nvSpPr>
        <p:spPr>
          <a:xfrm>
            <a:off x="5544938" y="913572"/>
            <a:ext cx="2232248"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Serv Impl.</a:t>
            </a:r>
            <a:endParaRPr/>
          </a:p>
        </p:txBody>
      </p:sp>
      <p:cxnSp>
        <p:nvCxnSpPr>
          <p:cNvPr id="1857" name="Google Shape;1857;p104"/>
          <p:cNvCxnSpPr>
            <a:stCxn id="1854" idx="0"/>
            <a:endCxn id="1856" idx="2"/>
          </p:cNvCxnSpPr>
          <p:nvPr/>
        </p:nvCxnSpPr>
        <p:spPr>
          <a:xfrm rot="10800000">
            <a:off x="6661062" y="1633623"/>
            <a:ext cx="0" cy="520500"/>
          </a:xfrm>
          <a:prstGeom prst="straightConnector1">
            <a:avLst/>
          </a:prstGeom>
          <a:noFill/>
          <a:ln w="9525" cap="flat" cmpd="sng">
            <a:solidFill>
              <a:schemeClr val="accent1"/>
            </a:solidFill>
            <a:prstDash val="solid"/>
            <a:miter lim="800000"/>
            <a:headEnd type="none" w="sm" len="sm"/>
            <a:tailEnd type="triangle" w="med" len="med"/>
          </a:ln>
        </p:spPr>
      </p:cxnSp>
      <p:sp>
        <p:nvSpPr>
          <p:cNvPr id="1858" name="Google Shape;1858;p104"/>
          <p:cNvSpPr/>
          <p:nvPr/>
        </p:nvSpPr>
        <p:spPr>
          <a:xfrm>
            <a:off x="2429351" y="3203737"/>
            <a:ext cx="2431510" cy="648734"/>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 unmanaged</a:t>
            </a:r>
            <a:endParaRPr dirty="0"/>
          </a:p>
        </p:txBody>
      </p:sp>
      <p:sp>
        <p:nvSpPr>
          <p:cNvPr id="1859" name="Google Shape;1859;p104"/>
          <p:cNvSpPr/>
          <p:nvPr/>
        </p:nvSpPr>
        <p:spPr>
          <a:xfrm>
            <a:off x="2429351" y="2237547"/>
            <a:ext cx="2431510" cy="648734"/>
          </a:xfrm>
          <a:prstGeom prst="rect">
            <a:avLst/>
          </a:prstGeom>
          <a:solidFill>
            <a:srgbClr val="FF000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BIMP-unmanaged</a:t>
            </a:r>
            <a:endParaRPr/>
          </a:p>
        </p:txBody>
      </p:sp>
      <p:cxnSp>
        <p:nvCxnSpPr>
          <p:cNvPr id="1860" name="Google Shape;1860;p104"/>
          <p:cNvCxnSpPr>
            <a:stCxn id="1858" idx="3"/>
            <a:endCxn id="1846" idx="1"/>
          </p:cNvCxnSpPr>
          <p:nvPr/>
        </p:nvCxnSpPr>
        <p:spPr>
          <a:xfrm>
            <a:off x="4860861" y="3528104"/>
            <a:ext cx="756000" cy="80400"/>
          </a:xfrm>
          <a:prstGeom prst="straightConnector1">
            <a:avLst/>
          </a:prstGeom>
          <a:noFill/>
          <a:ln w="9525" cap="flat" cmpd="sng">
            <a:solidFill>
              <a:schemeClr val="accent1"/>
            </a:solidFill>
            <a:prstDash val="solid"/>
            <a:miter lim="800000"/>
            <a:headEnd type="none" w="sm" len="sm"/>
            <a:tailEnd type="none" w="sm" len="sm"/>
          </a:ln>
        </p:spPr>
      </p:cxnSp>
      <p:cxnSp>
        <p:nvCxnSpPr>
          <p:cNvPr id="1861" name="Google Shape;1861;p104"/>
          <p:cNvCxnSpPr>
            <a:stCxn id="1859" idx="2"/>
            <a:endCxn id="1858" idx="0"/>
          </p:cNvCxnSpPr>
          <p:nvPr/>
        </p:nvCxnSpPr>
        <p:spPr>
          <a:xfrm>
            <a:off x="3645106" y="2886281"/>
            <a:ext cx="0" cy="317400"/>
          </a:xfrm>
          <a:prstGeom prst="straightConnector1">
            <a:avLst/>
          </a:prstGeom>
          <a:noFill/>
          <a:ln w="9525" cap="flat" cmpd="sng">
            <a:solidFill>
              <a:schemeClr val="accent1"/>
            </a:solidFill>
            <a:prstDash val="solid"/>
            <a:miter lim="800000"/>
            <a:headEnd type="none" w="sm" len="sm"/>
            <a:tailEnd type="none" w="sm" len="sm"/>
          </a:ln>
        </p:spPr>
      </p:cxnSp>
      <p:pic>
        <p:nvPicPr>
          <p:cNvPr id="2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2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65"/>
        <p:cNvGrpSpPr/>
        <p:nvPr/>
      </p:nvGrpSpPr>
      <p:grpSpPr>
        <a:xfrm>
          <a:off x="0" y="0"/>
          <a:ext cx="0" cy="0"/>
          <a:chOff x="0" y="0"/>
          <a:chExt cx="0" cy="0"/>
        </a:xfrm>
      </p:grpSpPr>
      <p:sp>
        <p:nvSpPr>
          <p:cNvPr id="1867" name="Google Shape;1867;p105"/>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&lt;&gt;</a:t>
            </a:r>
            <a:endParaRPr sz="1800">
              <a:solidFill>
                <a:schemeClr val="dk1"/>
              </a:solidFill>
              <a:latin typeface="Calibri"/>
              <a:ea typeface="Calibri"/>
              <a:cs typeface="Calibri"/>
              <a:sym typeface="Calibri"/>
            </a:endParaRPr>
          </a:p>
        </p:txBody>
      </p:sp>
      <p:sp>
        <p:nvSpPr>
          <p:cNvPr id="1868" name="Google Shape;1868;p10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Title</a:t>
            </a:r>
            <a:endParaRPr sz="3599" dirty="0">
              <a:solidFill>
                <a:srgbClr val="FFC000"/>
              </a:solidFill>
              <a:latin typeface="Cooper Black" panose="0208090404030B020404" pitchFamily="18" charset="0"/>
              <a:ea typeface="Corben"/>
              <a:cs typeface="Corben"/>
              <a:sym typeface="Corben"/>
            </a:endParaRPr>
          </a:p>
        </p:txBody>
      </p:sp>
      <p:sp>
        <p:nvSpPr>
          <p:cNvPr id="1871" name="Google Shape;1871;p105"/>
          <p:cNvSpPr/>
          <p:nvPr/>
        </p:nvSpPr>
        <p:spPr>
          <a:xfrm>
            <a:off x="612471" y="1145484"/>
            <a:ext cx="5544616" cy="46805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72" name="Google Shape;1872;p105"/>
          <p:cNvSpPr/>
          <p:nvPr/>
        </p:nvSpPr>
        <p:spPr>
          <a:xfrm>
            <a:off x="981844" y="146883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3" name="Google Shape;1873;p105"/>
          <p:cNvSpPr/>
          <p:nvPr/>
        </p:nvSpPr>
        <p:spPr>
          <a:xfrm>
            <a:off x="991516" y="2046611"/>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4" name="Google Shape;1874;p105"/>
          <p:cNvSpPr/>
          <p:nvPr/>
        </p:nvSpPr>
        <p:spPr>
          <a:xfrm>
            <a:off x="981844" y="2641916"/>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5" name="Google Shape;1875;p105"/>
          <p:cNvSpPr/>
          <p:nvPr/>
        </p:nvSpPr>
        <p:spPr>
          <a:xfrm>
            <a:off x="981844" y="3379956"/>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6" name="Google Shape;1876;p105"/>
          <p:cNvSpPr/>
          <p:nvPr/>
        </p:nvSpPr>
        <p:spPr>
          <a:xfrm>
            <a:off x="3914242" y="1451672"/>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7" name="Google Shape;1877;p105"/>
          <p:cNvSpPr/>
          <p:nvPr/>
        </p:nvSpPr>
        <p:spPr>
          <a:xfrm>
            <a:off x="3888183" y="2060848"/>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78" name="Google Shape;1878;p105"/>
          <p:cNvSpPr/>
          <p:nvPr/>
        </p:nvSpPr>
        <p:spPr>
          <a:xfrm>
            <a:off x="3898168" y="2714704"/>
            <a:ext cx="2016224" cy="447996"/>
          </a:xfrm>
          <a:prstGeom prst="rect">
            <a:avLst/>
          </a:prstGeom>
          <a:solidFill>
            <a:schemeClr val="accent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tx1"/>
                </a:solidFill>
                <a:latin typeface="Calibri"/>
                <a:ea typeface="Calibri"/>
                <a:cs typeface="Calibri"/>
                <a:sym typeface="Calibri"/>
              </a:rPr>
              <a:t>*</a:t>
            </a:r>
            <a:endParaRPr dirty="0">
              <a:solidFill>
                <a:schemeClr val="tx1"/>
              </a:solidFill>
            </a:endParaRPr>
          </a:p>
        </p:txBody>
      </p:sp>
      <p:sp>
        <p:nvSpPr>
          <p:cNvPr id="1879" name="Google Shape;1879;p105"/>
          <p:cNvSpPr/>
          <p:nvPr/>
        </p:nvSpPr>
        <p:spPr>
          <a:xfrm>
            <a:off x="3881622" y="3323880"/>
            <a:ext cx="2016224" cy="447996"/>
          </a:xfrm>
          <a:prstGeom prst="rect">
            <a:avLst/>
          </a:prstGeom>
          <a:solidFill>
            <a:schemeClr val="bg2"/>
          </a:solidFill>
          <a:ln w="12700" cap="flat" cmpd="sng">
            <a:solidFill>
              <a:srgbClr val="64341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highlight>
                <a:srgbClr val="FFFF00"/>
              </a:highlight>
              <a:latin typeface="Calibri"/>
              <a:ea typeface="Calibri"/>
              <a:cs typeface="Calibri"/>
              <a:sym typeface="Calibri"/>
            </a:endParaRPr>
          </a:p>
        </p:txBody>
      </p:sp>
      <p:sp>
        <p:nvSpPr>
          <p:cNvPr id="1880" name="Google Shape;1880;p105"/>
          <p:cNvSpPr/>
          <p:nvPr/>
        </p:nvSpPr>
        <p:spPr>
          <a:xfrm>
            <a:off x="6310436" y="2204864"/>
            <a:ext cx="1224136" cy="2160240"/>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81" name="Google Shape;1881;p105"/>
          <p:cNvSpPr txBox="1"/>
          <p:nvPr/>
        </p:nvSpPr>
        <p:spPr>
          <a:xfrm>
            <a:off x="7534572" y="1124744"/>
            <a:ext cx="4166530"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Calibri"/>
                <a:ea typeface="Calibri"/>
                <a:cs typeface="Calibri"/>
                <a:sym typeface="Calibri"/>
              </a:rPr>
              <a:t>How you know in the code which fields are changed on the screen by the user.</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So accordingly we can update the data into the database only for the changed fields??</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RAP provides a compiler structure called %control which will tell us what fields were changed on UI. </a:t>
            </a:r>
            <a:endParaRPr dirty="0"/>
          </a:p>
          <a:p>
            <a:pPr marL="0" marR="0" lvl="0" indent="0" algn="l" rtl="0">
              <a:spcBef>
                <a:spcPts val="0"/>
              </a:spcBef>
              <a:spcAft>
                <a:spcPts val="0"/>
              </a:spcAft>
              <a:buNone/>
            </a:pPr>
            <a:r>
              <a:rPr lang="en-US" sz="2400" dirty="0">
                <a:solidFill>
                  <a:schemeClr val="dk1"/>
                </a:solidFill>
                <a:latin typeface="Calibri"/>
                <a:ea typeface="Calibri"/>
                <a:cs typeface="Calibri"/>
                <a:sym typeface="Calibri"/>
              </a:rPr>
              <a:t>We need to tell the RAP, what will be the datatype for the control structure.</a:t>
            </a:r>
            <a:endParaRPr dirty="0"/>
          </a:p>
        </p:txBody>
      </p:sp>
      <p:pic>
        <p:nvPicPr>
          <p:cNvPr id="1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Development Flow of Scenario</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
        <p:nvSpPr>
          <p:cNvPr id="3" name="TextBox 2">
            <a:extLst>
              <a:ext uri="{FF2B5EF4-FFF2-40B4-BE49-F238E27FC236}">
                <a16:creationId xmlns:a16="http://schemas.microsoft.com/office/drawing/2014/main" id="{F012BF6A-7401-14BB-5D16-7B9BB93FFC96}"/>
              </a:ext>
            </a:extLst>
          </p:cNvPr>
          <p:cNvSpPr txBox="1"/>
          <p:nvPr/>
        </p:nvSpPr>
        <p:spPr>
          <a:xfrm>
            <a:off x="191294" y="785526"/>
            <a:ext cx="11867740" cy="22467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475E75"/>
                </a:solidFill>
                <a:effectLst/>
                <a:uLnTx/>
                <a:uFillTx/>
                <a:latin typeface="72" panose="020B0503030000000003" pitchFamily="34" charset="0"/>
                <a:cs typeface="Arial"/>
                <a:sym typeface="Arial"/>
              </a:rPr>
              <a:t>With the 2102 release, the SAP BTP ABAP Environment opened up the door for analytics developments. The programming model follows the same “RAP” paradigm as in the transactional world: The entity model is implemented with CDS views that make use of additional analytical annotations that were now also released for the usage in the BTP ABAP Environment ("Steampunk”).</a:t>
            </a:r>
            <a:br>
              <a:rPr kumimoji="0" lang="en-US" sz="1400" b="0" i="0" u="none" strike="noStrike" kern="0" cap="none" spc="0" normalizeH="0" baseline="0" noProof="0" dirty="0">
                <a:ln>
                  <a:noFill/>
                </a:ln>
                <a:solidFill>
                  <a:srgbClr val="000000"/>
                </a:solidFill>
                <a:effectLst/>
                <a:uLnTx/>
                <a:uFillTx/>
                <a:latin typeface="Arial"/>
                <a:cs typeface="Arial"/>
                <a:sym typeface="Arial"/>
              </a:rPr>
            </a:br>
            <a:br>
              <a:rPr kumimoji="0" lang="en-US" sz="1400" b="0" i="0" u="none" strike="noStrike" kern="0" cap="none" spc="0" normalizeH="0" baseline="0" noProof="0" dirty="0">
                <a:ln>
                  <a:noFill/>
                </a:ln>
                <a:solidFill>
                  <a:srgbClr val="000000"/>
                </a:solidFill>
                <a:effectLst/>
                <a:uLnTx/>
                <a:uFillTx/>
                <a:latin typeface="Arial"/>
                <a:cs typeface="Arial"/>
                <a:sym typeface="Arial"/>
              </a:rPr>
            </a:br>
            <a:r>
              <a:rPr kumimoji="0" lang="en-US" sz="1400" b="0" i="0" u="none" strike="noStrike" kern="0" cap="none" spc="0" normalizeH="0" baseline="0" noProof="0" dirty="0">
                <a:ln>
                  <a:noFill/>
                </a:ln>
                <a:solidFill>
                  <a:srgbClr val="475E75"/>
                </a:solidFill>
                <a:effectLst/>
                <a:uLnTx/>
                <a:uFillTx/>
                <a:latin typeface="72" panose="020B0503030000000003" pitchFamily="34" charset="0"/>
                <a:cs typeface="Arial"/>
                <a:sym typeface="Arial"/>
              </a:rPr>
              <a:t>As there is no access to the analytical backend transactions nor to the analytical key user tools, an analytical preview was also introduced, so that a developer can test his developments directly in the ABAP Development Tools.</a:t>
            </a:r>
            <a:br>
              <a:rPr kumimoji="0" lang="en-US" sz="1400" b="0" i="0" u="none" strike="noStrike" kern="0" cap="none" spc="0" normalizeH="0" baseline="0" noProof="0" dirty="0">
                <a:ln>
                  <a:noFill/>
                </a:ln>
                <a:solidFill>
                  <a:srgbClr val="000000"/>
                </a:solidFill>
                <a:effectLst/>
                <a:uLnTx/>
                <a:uFillTx/>
                <a:latin typeface="Arial"/>
                <a:cs typeface="Arial"/>
                <a:sym typeface="Arial"/>
              </a:rPr>
            </a:br>
            <a:br>
              <a:rPr kumimoji="0" lang="en-US" sz="1400" b="0" i="0" u="none" strike="noStrike" kern="0" cap="none" spc="0" normalizeH="0" baseline="0" noProof="0" dirty="0">
                <a:ln>
                  <a:noFill/>
                </a:ln>
                <a:solidFill>
                  <a:srgbClr val="000000"/>
                </a:solidFill>
                <a:effectLst/>
                <a:uLnTx/>
                <a:uFillTx/>
                <a:latin typeface="Arial"/>
                <a:cs typeface="Arial"/>
                <a:sym typeface="Arial"/>
              </a:rPr>
            </a:br>
            <a:r>
              <a:rPr kumimoji="0" lang="en-US" sz="1400" b="0" i="0" u="none" strike="noStrike" kern="0" cap="none" spc="0" normalizeH="0" baseline="0" noProof="0" dirty="0">
                <a:ln>
                  <a:noFill/>
                </a:ln>
                <a:solidFill>
                  <a:srgbClr val="475E75"/>
                </a:solidFill>
                <a:effectLst/>
                <a:uLnTx/>
                <a:uFillTx/>
                <a:latin typeface="72" panose="020B0503030000000003" pitchFamily="34" charset="0"/>
                <a:cs typeface="Arial"/>
                <a:sym typeface="Arial"/>
              </a:rPr>
              <a:t>Another novelty is the introduction of an analytical service exposure. For an analytical service to be used as real time connection with a supported client (like e.g., SAP Analytics Cloud), the SAP Information Access protocol (</a:t>
            </a:r>
            <a:r>
              <a:rPr kumimoji="0" lang="en-US" sz="1400" b="0" i="0" u="none" strike="noStrike" kern="0" cap="none" spc="0" normalizeH="0" baseline="0" noProof="0" dirty="0" err="1">
                <a:ln>
                  <a:noFill/>
                </a:ln>
                <a:solidFill>
                  <a:srgbClr val="475E75"/>
                </a:solidFill>
                <a:effectLst/>
                <a:uLnTx/>
                <a:uFillTx/>
                <a:latin typeface="72" panose="020B0503030000000003" pitchFamily="34" charset="0"/>
                <a:cs typeface="Arial"/>
                <a:sym typeface="Arial"/>
              </a:rPr>
              <a:t>InA</a:t>
            </a:r>
            <a:r>
              <a:rPr kumimoji="0" lang="en-US" sz="1400" b="0" i="0" u="none" strike="noStrike" kern="0" cap="none" spc="0" normalizeH="0" baseline="0" noProof="0" dirty="0">
                <a:ln>
                  <a:noFill/>
                </a:ln>
                <a:solidFill>
                  <a:srgbClr val="475E75"/>
                </a:solidFill>
                <a:effectLst/>
                <a:uLnTx/>
                <a:uFillTx/>
                <a:latin typeface="72" panose="020B0503030000000003" pitchFamily="34" charset="0"/>
                <a:cs typeface="Arial"/>
                <a:sym typeface="Arial"/>
              </a:rPr>
              <a:t>) is required whereas transactional services rely on the OData protocol.</a:t>
            </a:r>
            <a:endParaRPr kumimoji="0" lang="en-IN" sz="1400" b="0" i="0" u="none" strike="noStrike" kern="0" cap="none" spc="0" normalizeH="0" baseline="0" noProof="0" dirty="0">
              <a:ln>
                <a:noFill/>
              </a:ln>
              <a:solidFill>
                <a:srgbClr val="000000"/>
              </a:solidFill>
              <a:effectLst/>
              <a:uLnTx/>
              <a:uFillTx/>
              <a:latin typeface="Arial"/>
              <a:cs typeface="Arial"/>
              <a:sym typeface="Arial"/>
            </a:endParaRPr>
          </a:p>
        </p:txBody>
      </p:sp>
      <p:pic>
        <p:nvPicPr>
          <p:cNvPr id="3074" name="Picture 2">
            <a:extLst>
              <a:ext uri="{FF2B5EF4-FFF2-40B4-BE49-F238E27FC236}">
                <a16:creationId xmlns:a16="http://schemas.microsoft.com/office/drawing/2014/main" id="{2AE675FC-13D1-8F2B-9883-EE79A0F0DB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7445" y="2947502"/>
            <a:ext cx="6439407" cy="355098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1115640"/>
            <a:ext cx="11806237"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Imagine in our company we had written all the business logic in the past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in form of FM, Classes. Today we want to reuse our old code which has the business logic, validation, sequence, processing, along with transaction buffer. So if you want to manage all these codes yourself and integrate your legacy (old code written by you or your team), you will opt for unmanaged (here RAP is not managing the CURD operation) scenario.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SAP is providing a demo class for learning purpose viz. </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dmo</a:t>
            </a:r>
            <a:r>
              <a:rPr lang="en-US" sz="1800" dirty="0">
                <a:solidFill>
                  <a:srgbClr val="000000"/>
                </a:solidFill>
                <a:highlight>
                  <a:srgbClr val="F0D8A8"/>
                </a:highlight>
                <a:latin typeface="Arial"/>
                <a:ea typeface="Arial"/>
                <a:cs typeface="Arial"/>
                <a:sym typeface="Arial"/>
              </a:rPr>
              <a:t>/</a:t>
            </a:r>
            <a:r>
              <a:rPr lang="en-US" sz="1800" dirty="0" err="1">
                <a:solidFill>
                  <a:srgbClr val="000000"/>
                </a:solidFill>
                <a:highlight>
                  <a:srgbClr val="F0D8A8"/>
                </a:highlight>
                <a:latin typeface="Arial"/>
                <a:ea typeface="Arial"/>
                <a:cs typeface="Arial"/>
                <a:sym typeface="Arial"/>
              </a:rPr>
              <a:t>cl_flight_legacy</a:t>
            </a:r>
            <a:endParaRPr sz="1800" dirty="0">
              <a:solidFill>
                <a:srgbClr val="000000"/>
              </a:solidFill>
              <a:highlight>
                <a:srgbClr val="F0D8A8"/>
              </a:highlight>
              <a:latin typeface="Arial"/>
              <a:ea typeface="Arial"/>
              <a:cs typeface="Arial"/>
              <a:sym typeface="Arial"/>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In this class we have our own old logic which contains the transaction buffer and business logic to maintain all the source code to interact with database </a:t>
            </a:r>
            <a:r>
              <a:rPr lang="en-US" sz="1800" dirty="0" err="1">
                <a:solidFill>
                  <a:schemeClr val="dk1"/>
                </a:solidFill>
                <a:latin typeface="Calibri"/>
                <a:ea typeface="Calibri"/>
                <a:cs typeface="Calibri"/>
                <a:sym typeface="Calibri"/>
              </a:rPr>
              <a:t>ourself</a:t>
            </a:r>
            <a:r>
              <a:rPr lang="en-US" sz="1800" dirty="0">
                <a:solidFill>
                  <a:schemeClr val="dk1"/>
                </a:solidFill>
                <a:latin typeface="Calibri"/>
                <a:ea typeface="Calibri"/>
                <a:cs typeface="Calibri"/>
                <a:sym typeface="Calibri"/>
              </a:rPr>
              <a: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allows us to implement the entire runtime of the BO</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Interaction Phase (code to interact and keep data inside </a:t>
            </a:r>
            <a:r>
              <a:rPr lang="en-US" sz="1800" dirty="0" err="1">
                <a:solidFill>
                  <a:schemeClr val="dk1"/>
                </a:solidFill>
                <a:latin typeface="Calibri"/>
                <a:ea typeface="Calibri"/>
                <a:cs typeface="Calibri"/>
                <a:sym typeface="Calibri"/>
              </a:rPr>
              <a:t>itab</a:t>
            </a:r>
            <a:r>
              <a:rPr lang="en-US" sz="1800" dirty="0">
                <a:solidFill>
                  <a:schemeClr val="dk1"/>
                </a:solidFill>
                <a:latin typeface="Calibri"/>
                <a:ea typeface="Calibri"/>
                <a:cs typeface="Calibri"/>
                <a:sym typeface="Calibri"/>
              </a:rPr>
              <a:t>)</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Transaction Buffer (like a internal table where we keep temporary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Save Sequence (Commit work and Rollback)</a:t>
            </a:r>
            <a:endParaRPr dirty="0"/>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Reference Scenario – Unmanaged </a:t>
            </a:r>
            <a:r>
              <a:rPr lang="en-US" sz="3599" dirty="0" err="1">
                <a:solidFill>
                  <a:srgbClr val="FFC000"/>
                </a:solidFill>
                <a:latin typeface="Cooper Black" panose="0208090404030B020404" pitchFamily="18" charset="0"/>
                <a:ea typeface="Corben"/>
                <a:cs typeface="Corben"/>
                <a:sym typeface="Corben"/>
              </a:rPr>
              <a:t>Impl</a:t>
            </a:r>
            <a:r>
              <a:rPr lang="en-US" sz="3599" dirty="0">
                <a:solidFill>
                  <a:srgbClr val="FFC000"/>
                </a:solidFill>
                <a:latin typeface="Cooper Black" panose="0208090404030B020404" pitchFamily="18" charset="0"/>
                <a:ea typeface="Corben"/>
                <a:cs typeface="Corben"/>
                <a:sym typeface="Corben"/>
              </a:rPr>
              <a:t>.</a:t>
            </a:r>
            <a:endParaRPr sz="3599" dirty="0">
              <a:solidFill>
                <a:srgbClr val="FFC000"/>
              </a:solidFill>
              <a:latin typeface="Cooper Black" panose="0208090404030B020404" pitchFamily="18" charset="0"/>
              <a:ea typeface="Corben"/>
              <a:cs typeface="Corben"/>
              <a:sym typeface="Corben"/>
            </a:endParaRPr>
          </a:p>
        </p:txBody>
      </p:sp>
      <p:sp>
        <p:nvSpPr>
          <p:cNvPr id="1824" name="Google Shape;1824;p103"/>
          <p:cNvSpPr/>
          <p:nvPr/>
        </p:nvSpPr>
        <p:spPr>
          <a:xfrm>
            <a:off x="1845940" y="4491487"/>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UPDATE_BAPI</a:t>
            </a:r>
            <a:endParaRPr/>
          </a:p>
          <a:p>
            <a:pPr marL="0" marR="0" lvl="0" indent="0" algn="ctr" rtl="0">
              <a:spcBef>
                <a:spcPts val="0"/>
              </a:spcBef>
              <a:spcAft>
                <a:spcPts val="0"/>
              </a:spcAft>
              <a:buNone/>
            </a:pPr>
            <a:r>
              <a:rPr lang="en-US" sz="2400">
                <a:solidFill>
                  <a:schemeClr val="lt1"/>
                </a:solidFill>
                <a:latin typeface="Calibri"/>
                <a:ea typeface="Calibri"/>
                <a:cs typeface="Calibri"/>
                <a:sym typeface="Calibri"/>
              </a:rPr>
              <a:t>(LUW)</a:t>
            </a:r>
            <a:endParaRPr/>
          </a:p>
        </p:txBody>
      </p:sp>
      <p:sp>
        <p:nvSpPr>
          <p:cNvPr id="1825" name="Google Shape;1825;p103"/>
          <p:cNvSpPr/>
          <p:nvPr/>
        </p:nvSpPr>
        <p:spPr>
          <a:xfrm>
            <a:off x="1125860" y="4644176"/>
            <a:ext cx="576064" cy="504056"/>
          </a:xfrm>
          <a:prstGeom prst="rightArrow">
            <a:avLst>
              <a:gd name="adj1" fmla="val 50000"/>
              <a:gd name="adj2" fmla="val 50000"/>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826" name="Google Shape;1826;p103"/>
          <p:cNvSpPr/>
          <p:nvPr/>
        </p:nvSpPr>
        <p:spPr>
          <a:xfrm>
            <a:off x="6022404" y="4932208"/>
            <a:ext cx="1152128" cy="576064"/>
          </a:xfrm>
          <a:prstGeom prst="flowChartMagneticDisk">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cxnSp>
        <p:nvCxnSpPr>
          <p:cNvPr id="1827" name="Google Shape;1827;p103"/>
          <p:cNvCxnSpPr>
            <a:endCxn id="1826" idx="2"/>
          </p:cNvCxnSpPr>
          <p:nvPr/>
        </p:nvCxnSpPr>
        <p:spPr>
          <a:xfrm>
            <a:off x="4726404" y="4788240"/>
            <a:ext cx="1296000" cy="432000"/>
          </a:xfrm>
          <a:prstGeom prst="straightConnector1">
            <a:avLst/>
          </a:prstGeom>
          <a:noFill/>
          <a:ln w="9525" cap="flat" cmpd="sng">
            <a:solidFill>
              <a:schemeClr val="accent1"/>
            </a:solidFill>
            <a:prstDash val="solid"/>
            <a:miter lim="800000"/>
            <a:headEnd type="none" w="sm" len="sm"/>
            <a:tailEnd type="triangle" w="med" len="med"/>
          </a:ln>
        </p:spPr>
      </p:cxnSp>
      <p:sp>
        <p:nvSpPr>
          <p:cNvPr id="1828" name="Google Shape;1828;p103"/>
          <p:cNvSpPr/>
          <p:nvPr/>
        </p:nvSpPr>
        <p:spPr>
          <a:xfrm>
            <a:off x="400608" y="5695912"/>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BAPI_TR_COMMIT</a:t>
            </a:r>
            <a:endParaRPr/>
          </a:p>
        </p:txBody>
      </p:sp>
      <p:sp>
        <p:nvSpPr>
          <p:cNvPr id="1829" name="Google Shape;1829;p103"/>
          <p:cNvSpPr/>
          <p:nvPr/>
        </p:nvSpPr>
        <p:spPr>
          <a:xfrm>
            <a:off x="3621560" y="5701411"/>
            <a:ext cx="2952328" cy="79208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BAPI_TR_ROLLBACK</a:t>
            </a:r>
            <a:endParaRPr/>
          </a:p>
        </p:txBody>
      </p:sp>
      <p:cxnSp>
        <p:nvCxnSpPr>
          <p:cNvPr id="1830" name="Google Shape;1830;p103"/>
          <p:cNvCxnSpPr>
            <a:stCxn id="1828" idx="2"/>
            <a:endCxn id="1826" idx="4"/>
          </p:cNvCxnSpPr>
          <p:nvPr/>
        </p:nvCxnSpPr>
        <p:spPr>
          <a:xfrm rot="-5400000">
            <a:off x="3891722" y="3205250"/>
            <a:ext cx="1267800" cy="5297700"/>
          </a:xfrm>
          <a:prstGeom prst="bentConnector4">
            <a:avLst>
              <a:gd name="adj1" fmla="val -18031"/>
              <a:gd name="adj2" fmla="val 104316"/>
            </a:avLst>
          </a:prstGeom>
          <a:noFill/>
          <a:ln w="9525" cap="flat" cmpd="sng">
            <a:solidFill>
              <a:schemeClr val="accent1"/>
            </a:solidFill>
            <a:prstDash val="solid"/>
            <a:miter lim="800000"/>
            <a:headEnd type="none" w="sm" len="sm"/>
            <a:tailEnd type="triangle" w="med" len="med"/>
          </a:ln>
        </p:spPr>
      </p:cxnSp>
      <p:cxnSp>
        <p:nvCxnSpPr>
          <p:cNvPr id="1831" name="Google Shape;1831;p103"/>
          <p:cNvCxnSpPr>
            <a:stCxn id="1829" idx="2"/>
            <a:endCxn id="1826" idx="4"/>
          </p:cNvCxnSpPr>
          <p:nvPr/>
        </p:nvCxnSpPr>
        <p:spPr>
          <a:xfrm rot="-5400000">
            <a:off x="5499574" y="4818449"/>
            <a:ext cx="1273200" cy="2076900"/>
          </a:xfrm>
          <a:prstGeom prst="bentConnector4">
            <a:avLst>
              <a:gd name="adj1" fmla="val -17955"/>
              <a:gd name="adj2" fmla="val 111002"/>
            </a:avLst>
          </a:prstGeom>
          <a:noFill/>
          <a:ln w="9525" cap="flat" cmpd="sng">
            <a:solidFill>
              <a:schemeClr val="accent1"/>
            </a:solidFill>
            <a:prstDash val="solid"/>
            <a:miter lim="800000"/>
            <a:headEnd type="none" w="sm" len="sm"/>
            <a:tailEnd type="triangle" w="med" len="med"/>
          </a:ln>
        </p:spPr>
      </p:cxn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7" name="Google Shape;2017;p120"/>
          <p:cNvSpPr txBox="1"/>
          <p:nvPr/>
        </p:nvSpPr>
        <p:spPr>
          <a:xfrm>
            <a:off x="224979" y="788088"/>
            <a:ext cx="11806237" cy="477049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An Analytical List Page (ALP) is a SAP Fiori element that allows users to analyze data and take action on it. It's a key component of SAP Fiori embedded analytics. </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Here are some things you can do with an ALP:</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Analyze data: Use KPIs, charts, tables, and visual filters to analyze data from different perspectives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Investigate root causes: Drill down to find root causes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Act on transactional content: Take action on transactional content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Build apps: Create apps that visualize and report data</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Combine data: Combine transactional and analytical data using charts and tables </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ALPs have a flexible layout that can be customized in a number of ways, including:</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Sorting: Sort the work list</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Page layout: Set page layout preferences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Filters: Set filters and save filter selections</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Default views: Set default views </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6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2060"/>
                </a:solidFill>
                <a:effectLst/>
                <a:uLnTx/>
                <a:uFillTx/>
                <a:latin typeface="Google Sans"/>
                <a:cs typeface="Arial"/>
                <a:sym typeface="Arial"/>
              </a:rPr>
              <a:t>ALPs are organized into two sections: a header section for setting filters, and a content section for displaying charts and lists. </a:t>
            </a:r>
          </a:p>
        </p:txBody>
      </p:sp>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ALP Analytic List Page</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4284825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ALP</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1026" name="Picture 2">
            <a:extLst>
              <a:ext uri="{FF2B5EF4-FFF2-40B4-BE49-F238E27FC236}">
                <a16:creationId xmlns:a16="http://schemas.microsoft.com/office/drawing/2014/main" id="{B3ECA6DD-C9AA-4D18-5138-18DA1E2947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858" y="1091258"/>
            <a:ext cx="9296752" cy="5232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011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726DCFE-A299-214C-83D3-37EFD4A32849}"/>
              </a:ext>
            </a:extLst>
          </p:cNvPr>
          <p:cNvSpPr/>
          <p:nvPr/>
        </p:nvSpPr>
        <p:spPr>
          <a:xfrm>
            <a:off x="668923" y="5645960"/>
            <a:ext cx="2098825" cy="478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a:t>
            </a:r>
            <a:r>
              <a:rPr kumimoji="0" lang="en-IN" sz="2000" b="0" i="0" u="none" strike="noStrike" kern="0" cap="none" spc="0" normalizeH="0" baseline="0" noProof="0" dirty="0" err="1">
                <a:ln>
                  <a:noFill/>
                </a:ln>
                <a:solidFill>
                  <a:srgbClr val="FFFFFF"/>
                </a:solidFill>
                <a:effectLst/>
                <a:uLnTx/>
                <a:uFillTx/>
                <a:latin typeface="Arial"/>
                <a:ea typeface="+mn-ea"/>
                <a:cs typeface="+mn-cs"/>
                <a:sym typeface="Arial"/>
              </a:rPr>
              <a:t>dmo</a:t>
            </a: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/travel</a:t>
            </a:r>
          </a:p>
        </p:txBody>
      </p:sp>
      <p:sp>
        <p:nvSpPr>
          <p:cNvPr id="5" name="Rectangle 4">
            <a:extLst>
              <a:ext uri="{FF2B5EF4-FFF2-40B4-BE49-F238E27FC236}">
                <a16:creationId xmlns:a16="http://schemas.microsoft.com/office/drawing/2014/main" id="{1CFA9A34-2F9E-3D1A-B95D-9967A7EA86D5}"/>
              </a:ext>
            </a:extLst>
          </p:cNvPr>
          <p:cNvSpPr/>
          <p:nvPr/>
        </p:nvSpPr>
        <p:spPr>
          <a:xfrm>
            <a:off x="2978959" y="5652095"/>
            <a:ext cx="2098825" cy="478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a:t>
            </a:r>
            <a:r>
              <a:rPr kumimoji="0" lang="en-IN" sz="2000" b="0" i="0" u="none" strike="noStrike" kern="0" cap="none" spc="0" normalizeH="0" baseline="0" noProof="0" dirty="0" err="1">
                <a:ln>
                  <a:noFill/>
                </a:ln>
                <a:solidFill>
                  <a:srgbClr val="FFFFFF"/>
                </a:solidFill>
                <a:effectLst/>
                <a:uLnTx/>
                <a:uFillTx/>
                <a:latin typeface="Arial"/>
                <a:ea typeface="+mn-ea"/>
                <a:cs typeface="+mn-cs"/>
                <a:sym typeface="Arial"/>
              </a:rPr>
              <a:t>dmo</a:t>
            </a: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/customer</a:t>
            </a:r>
          </a:p>
        </p:txBody>
      </p:sp>
      <p:sp>
        <p:nvSpPr>
          <p:cNvPr id="6" name="Rectangle 5">
            <a:extLst>
              <a:ext uri="{FF2B5EF4-FFF2-40B4-BE49-F238E27FC236}">
                <a16:creationId xmlns:a16="http://schemas.microsoft.com/office/drawing/2014/main" id="{425CF9B7-4623-B659-C880-7D28DB523C28}"/>
              </a:ext>
            </a:extLst>
          </p:cNvPr>
          <p:cNvSpPr/>
          <p:nvPr/>
        </p:nvSpPr>
        <p:spPr>
          <a:xfrm>
            <a:off x="5355479" y="5645959"/>
            <a:ext cx="2098825" cy="478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a:t>
            </a:r>
            <a:r>
              <a:rPr kumimoji="0" lang="en-IN" sz="2000" b="0" i="0" u="none" strike="noStrike" kern="0" cap="none" spc="0" normalizeH="0" baseline="0" noProof="0" dirty="0" err="1">
                <a:ln>
                  <a:noFill/>
                </a:ln>
                <a:solidFill>
                  <a:srgbClr val="FFFFFF"/>
                </a:solidFill>
                <a:effectLst/>
                <a:uLnTx/>
                <a:uFillTx/>
                <a:latin typeface="Arial"/>
                <a:ea typeface="+mn-ea"/>
                <a:cs typeface="+mn-cs"/>
                <a:sym typeface="Arial"/>
              </a:rPr>
              <a:t>dmo</a:t>
            </a:r>
            <a:r>
              <a:rPr kumimoji="0" lang="en-IN" sz="2000" b="0" i="0" u="none" strike="noStrike" kern="0" cap="none" spc="0" normalizeH="0" baseline="0" noProof="0" dirty="0">
                <a:ln>
                  <a:noFill/>
                </a:ln>
                <a:solidFill>
                  <a:srgbClr val="FFFFFF"/>
                </a:solidFill>
                <a:effectLst/>
                <a:uLnTx/>
                <a:uFillTx/>
                <a:latin typeface="Arial"/>
                <a:ea typeface="+mn-ea"/>
                <a:cs typeface="+mn-cs"/>
                <a:sym typeface="Arial"/>
              </a:rPr>
              <a:t>/agency</a:t>
            </a:r>
          </a:p>
        </p:txBody>
      </p:sp>
      <p:sp>
        <p:nvSpPr>
          <p:cNvPr id="7" name="Rectangle: Rounded Corners 6">
            <a:extLst>
              <a:ext uri="{FF2B5EF4-FFF2-40B4-BE49-F238E27FC236}">
                <a16:creationId xmlns:a16="http://schemas.microsoft.com/office/drawing/2014/main" id="{CF469AFE-46D8-DFBD-69D9-63F346687E60}"/>
              </a:ext>
            </a:extLst>
          </p:cNvPr>
          <p:cNvSpPr/>
          <p:nvPr/>
        </p:nvSpPr>
        <p:spPr>
          <a:xfrm>
            <a:off x="2610744" y="4443125"/>
            <a:ext cx="2835254" cy="56459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Travel Analytics CDS entity</a:t>
            </a:r>
          </a:p>
        </p:txBody>
      </p:sp>
      <p:cxnSp>
        <p:nvCxnSpPr>
          <p:cNvPr id="9" name="Connector: Elbow 8">
            <a:extLst>
              <a:ext uri="{FF2B5EF4-FFF2-40B4-BE49-F238E27FC236}">
                <a16:creationId xmlns:a16="http://schemas.microsoft.com/office/drawing/2014/main" id="{6DDDF214-0553-CF7C-796A-3AF9D4A2FF34}"/>
              </a:ext>
            </a:extLst>
          </p:cNvPr>
          <p:cNvCxnSpPr>
            <a:stCxn id="4" idx="0"/>
            <a:endCxn id="7" idx="2"/>
          </p:cNvCxnSpPr>
          <p:nvPr/>
        </p:nvCxnSpPr>
        <p:spPr>
          <a:xfrm rot="5400000" flipH="1" flipV="1">
            <a:off x="2554234" y="4171824"/>
            <a:ext cx="638239" cy="23100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A709E6F-C837-3761-8EB8-6349D54F6262}"/>
              </a:ext>
            </a:extLst>
          </p:cNvPr>
          <p:cNvCxnSpPr>
            <a:stCxn id="5" idx="0"/>
            <a:endCxn id="7" idx="2"/>
          </p:cNvCxnSpPr>
          <p:nvPr/>
        </p:nvCxnSpPr>
        <p:spPr>
          <a:xfrm flipH="1" flipV="1">
            <a:off x="4028371" y="5007721"/>
            <a:ext cx="1" cy="644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Connector: Elbow 13">
            <a:extLst>
              <a:ext uri="{FF2B5EF4-FFF2-40B4-BE49-F238E27FC236}">
                <a16:creationId xmlns:a16="http://schemas.microsoft.com/office/drawing/2014/main" id="{77F54002-69AE-E107-2C0D-165C17C493DF}"/>
              </a:ext>
            </a:extLst>
          </p:cNvPr>
          <p:cNvCxnSpPr>
            <a:stCxn id="6" idx="0"/>
            <a:endCxn id="7" idx="2"/>
          </p:cNvCxnSpPr>
          <p:nvPr/>
        </p:nvCxnSpPr>
        <p:spPr>
          <a:xfrm rot="16200000" flipV="1">
            <a:off x="4897513" y="4138579"/>
            <a:ext cx="638238" cy="2376521"/>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0F1DDDE-0A0C-3FD1-CCEC-BC5C47264188}"/>
              </a:ext>
            </a:extLst>
          </p:cNvPr>
          <p:cNvSpPr/>
          <p:nvPr/>
        </p:nvSpPr>
        <p:spPr>
          <a:xfrm>
            <a:off x="6683098" y="3295522"/>
            <a:ext cx="3534862" cy="47867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Booking Analytics CDS entity</a:t>
            </a:r>
          </a:p>
        </p:txBody>
      </p:sp>
      <p:cxnSp>
        <p:nvCxnSpPr>
          <p:cNvPr id="20" name="Connector: Elbow 19">
            <a:extLst>
              <a:ext uri="{FF2B5EF4-FFF2-40B4-BE49-F238E27FC236}">
                <a16:creationId xmlns:a16="http://schemas.microsoft.com/office/drawing/2014/main" id="{9EB1C5E7-F0B7-A374-A505-428C1BC5C55B}"/>
              </a:ext>
            </a:extLst>
          </p:cNvPr>
          <p:cNvCxnSpPr>
            <a:stCxn id="7" idx="0"/>
            <a:endCxn id="18" idx="1"/>
          </p:cNvCxnSpPr>
          <p:nvPr/>
        </p:nvCxnSpPr>
        <p:spPr>
          <a:xfrm rot="5400000" flipH="1" flipV="1">
            <a:off x="4901603" y="2661631"/>
            <a:ext cx="908263" cy="265472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78732D77-B5CA-4945-4DE4-7046FF3813FD}"/>
              </a:ext>
            </a:extLst>
          </p:cNvPr>
          <p:cNvSpPr/>
          <p:nvPr/>
        </p:nvSpPr>
        <p:spPr>
          <a:xfrm>
            <a:off x="7683415" y="4854298"/>
            <a:ext cx="2376522" cy="478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Carrier</a:t>
            </a:r>
          </a:p>
        </p:txBody>
      </p:sp>
      <p:sp>
        <p:nvSpPr>
          <p:cNvPr id="22" name="Rectangle: Rounded Corners 21">
            <a:extLst>
              <a:ext uri="{FF2B5EF4-FFF2-40B4-BE49-F238E27FC236}">
                <a16:creationId xmlns:a16="http://schemas.microsoft.com/office/drawing/2014/main" id="{A527693E-E90B-C579-88F8-ABDD58FF421A}"/>
              </a:ext>
            </a:extLst>
          </p:cNvPr>
          <p:cNvSpPr/>
          <p:nvPr/>
        </p:nvSpPr>
        <p:spPr>
          <a:xfrm>
            <a:off x="10279989" y="4860434"/>
            <a:ext cx="1908836" cy="478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Connection</a:t>
            </a:r>
          </a:p>
        </p:txBody>
      </p:sp>
      <p:cxnSp>
        <p:nvCxnSpPr>
          <p:cNvPr id="24" name="Connector: Elbow 23">
            <a:extLst>
              <a:ext uri="{FF2B5EF4-FFF2-40B4-BE49-F238E27FC236}">
                <a16:creationId xmlns:a16="http://schemas.microsoft.com/office/drawing/2014/main" id="{A0A517D9-3725-2D28-7CAE-306A9926C2D0}"/>
              </a:ext>
            </a:extLst>
          </p:cNvPr>
          <p:cNvCxnSpPr>
            <a:endCxn id="18" idx="2"/>
          </p:cNvCxnSpPr>
          <p:nvPr/>
        </p:nvCxnSpPr>
        <p:spPr>
          <a:xfrm rot="16200000" flipV="1">
            <a:off x="8180505" y="4044226"/>
            <a:ext cx="1080097" cy="54004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FEE43906-144B-46E3-369D-C5471255983F}"/>
              </a:ext>
            </a:extLst>
          </p:cNvPr>
          <p:cNvCxnSpPr>
            <a:stCxn id="22" idx="0"/>
            <a:endCxn id="18" idx="2"/>
          </p:cNvCxnSpPr>
          <p:nvPr/>
        </p:nvCxnSpPr>
        <p:spPr>
          <a:xfrm rot="16200000" flipV="1">
            <a:off x="9299352" y="2925379"/>
            <a:ext cx="1086233" cy="278387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C0A553AC-5958-D6A6-60BB-81F331449148}"/>
              </a:ext>
            </a:extLst>
          </p:cNvPr>
          <p:cNvSpPr/>
          <p:nvPr/>
        </p:nvSpPr>
        <p:spPr>
          <a:xfrm>
            <a:off x="8990578" y="5571294"/>
            <a:ext cx="2376522" cy="4786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Bookings</a:t>
            </a:r>
          </a:p>
        </p:txBody>
      </p:sp>
      <p:cxnSp>
        <p:nvCxnSpPr>
          <p:cNvPr id="29" name="Connector: Elbow 28">
            <a:extLst>
              <a:ext uri="{FF2B5EF4-FFF2-40B4-BE49-F238E27FC236}">
                <a16:creationId xmlns:a16="http://schemas.microsoft.com/office/drawing/2014/main" id="{8F2953A3-E756-243E-EA16-754C644D6D5C}"/>
              </a:ext>
            </a:extLst>
          </p:cNvPr>
          <p:cNvCxnSpPr>
            <a:stCxn id="27" idx="0"/>
            <a:endCxn id="18" idx="2"/>
          </p:cNvCxnSpPr>
          <p:nvPr/>
        </p:nvCxnSpPr>
        <p:spPr>
          <a:xfrm rot="16200000" flipV="1">
            <a:off x="8416138" y="3808593"/>
            <a:ext cx="1797093" cy="1728310"/>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Rounded Corners 31">
            <a:extLst>
              <a:ext uri="{FF2B5EF4-FFF2-40B4-BE49-F238E27FC236}">
                <a16:creationId xmlns:a16="http://schemas.microsoft.com/office/drawing/2014/main" id="{F55EFFC7-F1AF-2AD9-4752-1EC09AC74693}"/>
              </a:ext>
            </a:extLst>
          </p:cNvPr>
          <p:cNvSpPr/>
          <p:nvPr/>
        </p:nvSpPr>
        <p:spPr>
          <a:xfrm>
            <a:off x="6461146" y="2301341"/>
            <a:ext cx="3978765" cy="5093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1400" b="0" i="0" u="none" strike="noStrike" kern="0" cap="none" spc="0" normalizeH="0" baseline="0" noProof="0" dirty="0">
                <a:ln>
                  <a:noFill/>
                </a:ln>
                <a:solidFill>
                  <a:srgbClr val="FFFFFF"/>
                </a:solidFill>
                <a:effectLst/>
                <a:uLnTx/>
                <a:uFillTx/>
                <a:latin typeface="Arial"/>
                <a:ea typeface="+mn-ea"/>
                <a:cs typeface="+mn-cs"/>
                <a:sym typeface="Arial"/>
              </a:rPr>
              <a:t>Booking Consumption Analytics View</a:t>
            </a:r>
          </a:p>
        </p:txBody>
      </p:sp>
      <p:cxnSp>
        <p:nvCxnSpPr>
          <p:cNvPr id="34" name="Straight Arrow Connector 33">
            <a:extLst>
              <a:ext uri="{FF2B5EF4-FFF2-40B4-BE49-F238E27FC236}">
                <a16:creationId xmlns:a16="http://schemas.microsoft.com/office/drawing/2014/main" id="{5762A165-860D-21FB-FAA8-BDB700B947A8}"/>
              </a:ext>
            </a:extLst>
          </p:cNvPr>
          <p:cNvCxnSpPr>
            <a:stCxn id="18" idx="0"/>
            <a:endCxn id="32" idx="2"/>
          </p:cNvCxnSpPr>
          <p:nvPr/>
        </p:nvCxnSpPr>
        <p:spPr>
          <a:xfrm flipV="1">
            <a:off x="8450529" y="2810707"/>
            <a:ext cx="0" cy="48481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07232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7" name="Google Shape;2017;p120"/>
          <p:cNvSpPr txBox="1"/>
          <p:nvPr/>
        </p:nvSpPr>
        <p:spPr>
          <a:xfrm>
            <a:off x="224979" y="788088"/>
            <a:ext cx="11806237" cy="557071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The Overview Page (OVP) in SAP is a data-driven app that provides users with a single page of information based on their role or domain. It helps users focus on important tasks by allowing them to quickly view, filter, and react to information. </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Here are some things to know about the OVP: </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Structure</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The OVP has a header area and a content area. The content area displays cards that can contain charts, lists, tables, or text. </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Cards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The OVP supports both standard and custom cards. Standard cards are entry-level views of the most relevant app data for a given topic or issue. Custom cards allow you to define the appearance and content of a card. </a:t>
            </a: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List cards</a:t>
            </a:r>
          </a:p>
          <a:p>
            <a:pPr marL="0" marR="0" lvl="0" indent="0" algn="l" defTabSz="914400" rtl="0" eaLnBrk="1" fontAlgn="ctr"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The OVP supports three types of list cards: list card, bar chart list card, and link list card. </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Flavors</a:t>
            </a:r>
          </a:p>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endParaRPr kumimoji="0" lang="en-US" sz="1800" b="0" i="0" u="none" strike="noStrike" kern="0" cap="none" spc="0" normalizeH="0" baseline="0" noProof="0" dirty="0">
              <a:ln>
                <a:noFill/>
              </a:ln>
              <a:solidFill>
                <a:srgbClr val="002060"/>
              </a:solidFill>
              <a:effectLst/>
              <a:uLnTx/>
              <a:uFillTx/>
              <a:latin typeface="Google Sans"/>
              <a:cs typeface="Arial"/>
              <a:sym typeface="Arial"/>
            </a:endParaRPr>
          </a:p>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002060"/>
                </a:solidFill>
                <a:effectLst/>
                <a:uLnTx/>
                <a:uFillTx/>
                <a:latin typeface="Google Sans"/>
                <a:cs typeface="Arial"/>
                <a:sym typeface="Arial"/>
              </a:rPr>
              <a:t>List cards can have two types of flavors: standard and bar. Standard flavor cards display items as numbers and text, while bar flavor cards display items as a combination of numbers, text, and a bar.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n-US" sz="1800" b="0" i="0" u="none" strike="noStrike" kern="0" cap="none" spc="0" normalizeH="0" baseline="0" noProof="0" dirty="0">
                <a:ln>
                  <a:noFill/>
                </a:ln>
                <a:solidFill>
                  <a:srgbClr val="002060"/>
                </a:solidFill>
                <a:effectLst/>
                <a:uLnTx/>
                <a:uFillTx/>
                <a:latin typeface="Google Sans"/>
                <a:cs typeface="Arial"/>
                <a:sym typeface="Arial"/>
              </a:rPr>
            </a:br>
            <a:endParaRPr kumimoji="0" lang="en-US" sz="1400" b="0" i="0" u="none" strike="noStrike" kern="0" cap="none" spc="0" normalizeH="0" baseline="0" noProof="0" dirty="0">
              <a:ln>
                <a:noFill/>
              </a:ln>
              <a:solidFill>
                <a:srgbClr val="002060"/>
              </a:solidFill>
              <a:effectLst/>
              <a:uLnTx/>
              <a:uFillTx/>
              <a:latin typeface="Google Sans"/>
              <a:cs typeface="Arial"/>
              <a:sym typeface="Arial"/>
            </a:endParaRPr>
          </a:p>
        </p:txBody>
      </p:sp>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OVP – Overview pages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1318817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5"/>
        <p:cNvGrpSpPr/>
        <p:nvPr/>
      </p:nvGrpSpPr>
      <p:grpSpPr>
        <a:xfrm>
          <a:off x="0" y="0"/>
          <a:ext cx="0" cy="0"/>
          <a:chOff x="0" y="0"/>
          <a:chExt cx="0" cy="0"/>
        </a:xfrm>
      </p:grpSpPr>
      <p:sp>
        <p:nvSpPr>
          <p:cNvPr id="2018" name="Google Shape;2018;p12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OVP</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2050" name="Picture 2">
            <a:extLst>
              <a:ext uri="{FF2B5EF4-FFF2-40B4-BE49-F238E27FC236}">
                <a16:creationId xmlns:a16="http://schemas.microsoft.com/office/drawing/2014/main" id="{A5D72657-9D4D-24EF-A5D4-513288174A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294" y="838444"/>
            <a:ext cx="10161844" cy="5724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87190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16</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2564</TotalTime>
  <Words>1521</Words>
  <Application>Microsoft Office PowerPoint</Application>
  <PresentationFormat>Custom</PresentationFormat>
  <Paragraphs>153</Paragraphs>
  <Slides>17</Slides>
  <Notes>14</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17</vt:i4>
      </vt:variant>
    </vt:vector>
  </HeadingPairs>
  <TitlesOfParts>
    <vt:vector size="34" baseType="lpstr">
      <vt:lpstr>Open Sans</vt:lpstr>
      <vt:lpstr>-apple-system</vt:lpstr>
      <vt:lpstr>72 Condensed</vt:lpstr>
      <vt:lpstr>Quattrocento Sans</vt:lpstr>
      <vt:lpstr>Arial</vt:lpstr>
      <vt:lpstr>Cambria</vt:lpstr>
      <vt:lpstr>Segoe UI</vt:lpstr>
      <vt:lpstr>Google Sans</vt:lpstr>
      <vt:lpstr>Cooper Black</vt:lpstr>
      <vt:lpstr>Calibri</vt:lpstr>
      <vt:lpstr>Arial Black</vt:lpstr>
      <vt:lpstr>72</vt:lpstr>
      <vt:lpstr>Segoe UI Light</vt:lpstr>
      <vt:lpstr>Corben</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113</cp:revision>
  <dcterms:created xsi:type="dcterms:W3CDTF">2023-10-03T21:33:12Z</dcterms:created>
  <dcterms:modified xsi:type="dcterms:W3CDTF">2025-09-11T08:16:58Z</dcterms:modified>
</cp:coreProperties>
</file>